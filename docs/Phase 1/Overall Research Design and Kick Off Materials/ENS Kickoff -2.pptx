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jxlT7/RVKU3LzE7adjjhidHyJxP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customschemas.google.com/relationships/presentationmetadata" Target="metadata"/><Relationship Id="rId14" Type="http://schemas.openxmlformats.org/officeDocument/2006/relationships/slide" Target="slides/slide10.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857400" y="685800"/>
            <a:ext cx="342915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514350" y="4343400"/>
            <a:ext cx="41148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 name="Shape 17"/>
        <p:cNvGrpSpPr/>
        <p:nvPr/>
      </p:nvGrpSpPr>
      <p:grpSpPr>
        <a:xfrm>
          <a:off x="0" y="0"/>
          <a:ext cx="0" cy="0"/>
          <a:chOff x="0" y="0"/>
          <a:chExt cx="0" cy="0"/>
        </a:xfrm>
      </p:grpSpPr>
      <p:sp>
        <p:nvSpPr>
          <p:cNvPr id="18" name="Google Shape;1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 name="Google Shape;1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 name="Google Shape;2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 name="Google Shape;2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7" name="Google Shape;2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g3c34780cced_0_0:notes"/>
          <p:cNvSpPr/>
          <p:nvPr>
            <p:ph idx="2" type="sldImg"/>
          </p:nvPr>
        </p:nvSpPr>
        <p:spPr>
          <a:xfrm>
            <a:off x="857400" y="685800"/>
            <a:ext cx="3429000" cy="3429000"/>
          </a:xfrm>
          <a:custGeom>
            <a:rect b="b" l="l" r="r" t="t"/>
            <a:pathLst>
              <a:path extrusionOk="0" h="120000" w="120000">
                <a:moveTo>
                  <a:pt x="0" y="0"/>
                </a:moveTo>
                <a:lnTo>
                  <a:pt x="120000" y="0"/>
                </a:lnTo>
                <a:lnTo>
                  <a:pt x="120000" y="120000"/>
                </a:lnTo>
                <a:lnTo>
                  <a:pt x="0" y="120000"/>
                </a:lnTo>
                <a:close/>
              </a:path>
            </a:pathLst>
          </a:custGeom>
        </p:spPr>
      </p:sp>
      <p:sp>
        <p:nvSpPr>
          <p:cNvPr id="33" name="Google Shape;33;g3c34780cced_0_0:notes"/>
          <p:cNvSpPr txBox="1"/>
          <p:nvPr>
            <p:ph idx="1" type="body"/>
          </p:nvPr>
        </p:nvSpPr>
        <p:spPr>
          <a:xfrm>
            <a:off x="514350" y="4343400"/>
            <a:ext cx="41148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 name="Shape 36"/>
        <p:cNvGrpSpPr/>
        <p:nvPr/>
      </p:nvGrpSpPr>
      <p:grpSpPr>
        <a:xfrm>
          <a:off x="0" y="0"/>
          <a:ext cx="0" cy="0"/>
          <a:chOff x="0" y="0"/>
          <a:chExt cx="0" cy="0"/>
        </a:xfrm>
      </p:grpSpPr>
      <p:sp>
        <p:nvSpPr>
          <p:cNvPr id="37" name="Google Shape;3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 name="Google Shape;3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9" name="Google Shape;3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 name="Shape 43"/>
        <p:cNvGrpSpPr/>
        <p:nvPr/>
      </p:nvGrpSpPr>
      <p:grpSpPr>
        <a:xfrm>
          <a:off x="0" y="0"/>
          <a:ext cx="0" cy="0"/>
          <a:chOff x="0" y="0"/>
          <a:chExt cx="0" cy="0"/>
        </a:xfrm>
      </p:grpSpPr>
      <p:sp>
        <p:nvSpPr>
          <p:cNvPr id="44" name="Google Shape;44;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 name="Google Shape;45;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46" name="Google Shape;46;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 name="Google Shape;57;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58" name="Google Shape;58;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 name="Google Shape;7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75" name="Google Shape;75;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c69b7e0ac2_0_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 name="Google Shape;92;g3c69b7e0ac2_0_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93" name="Google Shape;93;g3c69b7e0ac2_0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69b7e0ac2_0_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4" name="Google Shape;104;g3c69b7e0ac2_0_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05" name="Google Shape;105;g3c69b7e0ac2_0_3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hyperlink" Target="https://docs.google.com/spreadsheets/d/19br5OoZjQabMFFWrl2OgaQX-puTWm9Wae6cxmXUkPnE/edit?gid=0#gid=0"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11" name="Shape 11"/>
        <p:cNvGrpSpPr/>
        <p:nvPr/>
      </p:nvGrpSpPr>
      <p:grpSpPr>
        <a:xfrm>
          <a:off x="0" y="0"/>
          <a:ext cx="0" cy="0"/>
          <a:chOff x="0" y="0"/>
          <a:chExt cx="0" cy="0"/>
        </a:xfrm>
      </p:grpSpPr>
      <p:sp>
        <p:nvSpPr>
          <p:cNvPr id="12" name="Google Shape;12;p1"/>
          <p:cNvSpPr/>
          <p:nvPr/>
        </p:nvSpPr>
        <p:spPr>
          <a:xfrm>
            <a:off x="609600" y="1638951"/>
            <a:ext cx="7924800" cy="1371600"/>
          </a:xfrm>
          <a:prstGeom prst="rect">
            <a:avLst/>
          </a:prstGeom>
          <a:noFill/>
          <a:ln>
            <a:noFill/>
          </a:ln>
        </p:spPr>
        <p:txBody>
          <a:bodyPr anchorCtr="0" anchor="t" bIns="0" lIns="0" spcFirstLastPara="1" rIns="0" wrap="square" tIns="0">
            <a:noAutofit/>
          </a:bodyPr>
          <a:lstStyle/>
          <a:p>
            <a:pPr indent="0" lvl="0" marL="0" marR="0" rtl="0" algn="ctr">
              <a:lnSpc>
                <a:spcPct val="120000"/>
              </a:lnSpc>
              <a:spcBef>
                <a:spcPts val="0"/>
              </a:spcBef>
              <a:spcAft>
                <a:spcPts val="0"/>
              </a:spcAft>
              <a:buClr>
                <a:srgbClr val="38BDF8"/>
              </a:buClr>
              <a:buSzPts val="4500"/>
              <a:buFont typeface="Arial"/>
              <a:buNone/>
            </a:pPr>
            <a:r>
              <a:rPr b="1" i="0" lang="en-US" sz="4500" u="none" cap="none" strike="noStrike">
                <a:solidFill>
                  <a:srgbClr val="38BDF8"/>
                </a:solidFill>
                <a:latin typeface="Arial"/>
                <a:ea typeface="Arial"/>
                <a:cs typeface="Arial"/>
                <a:sym typeface="Arial"/>
              </a:rPr>
              <a:t>ENS DAO Governance Evaluation</a:t>
            </a:r>
            <a:endParaRPr b="0" i="0" sz="4500" u="none" cap="none" strike="noStrike">
              <a:solidFill>
                <a:schemeClr val="dk1"/>
              </a:solidFill>
              <a:latin typeface="Calibri"/>
              <a:ea typeface="Calibri"/>
              <a:cs typeface="Calibri"/>
              <a:sym typeface="Calibri"/>
            </a:endParaRPr>
          </a:p>
        </p:txBody>
      </p:sp>
      <p:sp>
        <p:nvSpPr>
          <p:cNvPr id="13" name="Google Shape;13;p1"/>
          <p:cNvSpPr/>
          <p:nvPr/>
        </p:nvSpPr>
        <p:spPr>
          <a:xfrm>
            <a:off x="1973407" y="3162951"/>
            <a:ext cx="5197200" cy="3201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CBD5E1"/>
              </a:buClr>
              <a:buSzPts val="1800"/>
              <a:buFont typeface="Arial"/>
              <a:buNone/>
            </a:pPr>
            <a:r>
              <a:rPr b="0" i="0" lang="en-US" sz="1800" u="none" cap="none" strike="noStrike">
                <a:solidFill>
                  <a:srgbClr val="CBD5E1"/>
                </a:solidFill>
                <a:latin typeface="Arial"/>
                <a:ea typeface="Arial"/>
                <a:cs typeface="Arial"/>
                <a:sym typeface="Arial"/>
              </a:rPr>
              <a:t>Stakeholder Analysis &amp; Retrospective Assessment</a:t>
            </a:r>
            <a:endParaRPr b="0" i="0" sz="1800" u="none" cap="none" strike="noStrike">
              <a:solidFill>
                <a:schemeClr val="dk1"/>
              </a:solidFill>
              <a:latin typeface="Calibri"/>
              <a:ea typeface="Calibri"/>
              <a:cs typeface="Calibri"/>
              <a:sym typeface="Calibri"/>
            </a:endParaRPr>
          </a:p>
        </p:txBody>
      </p:sp>
      <p:sp>
        <p:nvSpPr>
          <p:cNvPr id="14" name="Google Shape;14;p1"/>
          <p:cNvSpPr/>
          <p:nvPr/>
        </p:nvSpPr>
        <p:spPr>
          <a:xfrm>
            <a:off x="2602503" y="3787741"/>
            <a:ext cx="3228000" cy="1866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94A3B8"/>
              </a:buClr>
              <a:buSzPts val="1050"/>
              <a:buFont typeface="Arial"/>
              <a:buNone/>
            </a:pPr>
            <a:r>
              <a:rPr b="0" i="0" lang="en-US" sz="1050" u="none" cap="none" strike="noStrike">
                <a:solidFill>
                  <a:srgbClr val="94A3B8"/>
                </a:solidFill>
                <a:latin typeface="Arial"/>
                <a:ea typeface="Arial"/>
                <a:cs typeface="Arial"/>
                <a:sym typeface="Arial"/>
              </a:rPr>
              <a:t>Metagov Research Team • February 10, 2026</a:t>
            </a:r>
            <a:endParaRPr b="0" i="0" sz="1050" u="none" cap="none" strike="noStrike">
              <a:solidFill>
                <a:schemeClr val="dk1"/>
              </a:solidFill>
              <a:latin typeface="Calibri"/>
              <a:ea typeface="Calibri"/>
              <a:cs typeface="Calibri"/>
              <a:sym typeface="Calibri"/>
            </a:endParaRPr>
          </a:p>
        </p:txBody>
      </p:sp>
      <p:pic>
        <p:nvPicPr>
          <p:cNvPr id="15" name="Google Shape;15;p1" title="Screenshot 2026-02-09 at 4.35.40 PM.png"/>
          <p:cNvPicPr preferRelativeResize="0"/>
          <p:nvPr/>
        </p:nvPicPr>
        <p:blipFill>
          <a:blip r:embed="rId3">
            <a:alphaModFix/>
          </a:blip>
          <a:stretch>
            <a:fillRect/>
          </a:stretch>
        </p:blipFill>
        <p:spPr>
          <a:xfrm>
            <a:off x="475076" y="271920"/>
            <a:ext cx="1992900" cy="705618"/>
          </a:xfrm>
          <a:prstGeom prst="rect">
            <a:avLst/>
          </a:prstGeom>
          <a:noFill/>
          <a:ln>
            <a:noFill/>
          </a:ln>
        </p:spPr>
      </p:pic>
      <p:pic>
        <p:nvPicPr>
          <p:cNvPr id="16" name="Google Shape;16;p1" title="Screenshot 2026-02-09 at 4.39.01 PM.png"/>
          <p:cNvPicPr preferRelativeResize="0"/>
          <p:nvPr/>
        </p:nvPicPr>
        <p:blipFill>
          <a:blip r:embed="rId4">
            <a:alphaModFix/>
          </a:blip>
          <a:stretch>
            <a:fillRect/>
          </a:stretch>
        </p:blipFill>
        <p:spPr>
          <a:xfrm>
            <a:off x="6976957" y="302970"/>
            <a:ext cx="1557446" cy="7056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21" name="Shape 21"/>
        <p:cNvGrpSpPr/>
        <p:nvPr/>
      </p:nvGrpSpPr>
      <p:grpSpPr>
        <a:xfrm>
          <a:off x="0" y="0"/>
          <a:ext cx="0" cy="0"/>
          <a:chOff x="0" y="0"/>
          <a:chExt cx="0" cy="0"/>
        </a:xfrm>
      </p:grpSpPr>
      <p:sp>
        <p:nvSpPr>
          <p:cNvPr id="22" name="Google Shape;22;p2"/>
          <p:cNvSpPr/>
          <p:nvPr/>
        </p:nvSpPr>
        <p:spPr>
          <a:xfrm>
            <a:off x="609600" y="872430"/>
            <a:ext cx="8083296" cy="41136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lang="en-US" sz="2700">
                <a:solidFill>
                  <a:srgbClr val="38BDF8"/>
                </a:solidFill>
                <a:latin typeface="Arial"/>
                <a:ea typeface="Arial"/>
                <a:cs typeface="Arial"/>
                <a:sym typeface="Arial"/>
              </a:rPr>
              <a:t>Today's Overview</a:t>
            </a:r>
            <a:endParaRPr sz="2700">
              <a:solidFill>
                <a:schemeClr val="dk1"/>
              </a:solidFill>
              <a:latin typeface="Calibri"/>
              <a:ea typeface="Calibri"/>
              <a:cs typeface="Calibri"/>
              <a:sym typeface="Calibri"/>
            </a:endParaRPr>
          </a:p>
        </p:txBody>
      </p:sp>
      <p:sp>
        <p:nvSpPr>
          <p:cNvPr id="23" name="Google Shape;23;p2"/>
          <p:cNvSpPr/>
          <p:nvPr/>
        </p:nvSpPr>
        <p:spPr>
          <a:xfrm>
            <a:off x="914400" y="1512391"/>
            <a:ext cx="7620000" cy="1154162"/>
          </a:xfrm>
          <a:prstGeom prst="rect">
            <a:avLst/>
          </a:prstGeom>
          <a:noFill/>
          <a:ln>
            <a:noFill/>
          </a:ln>
        </p:spPr>
        <p:txBody>
          <a:bodyPr anchorCtr="0" anchor="t" bIns="0" lIns="0" spcFirstLastPara="1" rIns="0" wrap="square" tIns="0">
            <a:noAutofit/>
          </a:bodyPr>
          <a:lstStyle/>
          <a:p>
            <a:pPr indent="-342900" lvl="0" marL="342900" marR="0" rtl="0" algn="l">
              <a:lnSpc>
                <a:spcPct val="180000"/>
              </a:lnSpc>
              <a:spcBef>
                <a:spcPts val="0"/>
              </a:spcBef>
              <a:spcAft>
                <a:spcPts val="0"/>
              </a:spcAft>
              <a:buClr>
                <a:srgbClr val="CBD5E1"/>
              </a:buClr>
              <a:buSzPts val="1350"/>
              <a:buFont typeface="Arial"/>
              <a:buAutoNum type="arabicPeriod"/>
            </a:pPr>
            <a:r>
              <a:rPr lang="en-US" sz="1350">
                <a:solidFill>
                  <a:srgbClr val="CBD5E1"/>
                </a:solidFill>
                <a:latin typeface="Arial"/>
                <a:ea typeface="Arial"/>
                <a:cs typeface="Arial"/>
                <a:sym typeface="Arial"/>
              </a:rPr>
              <a:t>Overview of Objectives, Timeline for all </a:t>
            </a:r>
            <a:r>
              <a:rPr lang="en-US" sz="1350">
                <a:solidFill>
                  <a:srgbClr val="CBD5E1"/>
                </a:solidFill>
              </a:rPr>
              <a:t>Three</a:t>
            </a:r>
            <a:r>
              <a:rPr lang="en-US" sz="1350">
                <a:solidFill>
                  <a:srgbClr val="CBD5E1"/>
                </a:solidFill>
                <a:latin typeface="Arial"/>
                <a:ea typeface="Arial"/>
                <a:cs typeface="Arial"/>
                <a:sym typeface="Arial"/>
              </a:rPr>
              <a:t> Phases</a:t>
            </a:r>
            <a:endParaRPr sz="1350">
              <a:solidFill>
                <a:srgbClr val="CBD5E1"/>
              </a:solidFill>
            </a:endParaRPr>
          </a:p>
          <a:p>
            <a:pPr indent="-342900" lvl="0" marL="342900" marR="0" rtl="0" algn="l">
              <a:lnSpc>
                <a:spcPct val="180000"/>
              </a:lnSpc>
              <a:spcBef>
                <a:spcPts val="0"/>
              </a:spcBef>
              <a:spcAft>
                <a:spcPts val="0"/>
              </a:spcAft>
              <a:buClr>
                <a:srgbClr val="CBD5E1"/>
              </a:buClr>
              <a:buSzPts val="1350"/>
              <a:buFont typeface="Arial"/>
              <a:buAutoNum type="arabicPeriod"/>
            </a:pPr>
            <a:r>
              <a:rPr lang="en-US" sz="1350">
                <a:solidFill>
                  <a:srgbClr val="CBD5E1"/>
                </a:solidFill>
                <a:latin typeface="Arial"/>
                <a:ea typeface="Arial"/>
                <a:cs typeface="Arial"/>
                <a:sym typeface="Arial"/>
              </a:rPr>
              <a:t>Deep Dive into Phase 1</a:t>
            </a:r>
            <a:endParaRPr sz="1350">
              <a:solidFill>
                <a:schemeClr val="dk1"/>
              </a:solidFill>
              <a:latin typeface="Calibri"/>
              <a:ea typeface="Calibri"/>
              <a:cs typeface="Calibri"/>
              <a:sym typeface="Calibri"/>
            </a:endParaRPr>
          </a:p>
          <a:p>
            <a:pPr indent="-342900" lvl="0" marL="342900" marR="0" rtl="0" algn="l">
              <a:lnSpc>
                <a:spcPct val="180000"/>
              </a:lnSpc>
              <a:spcBef>
                <a:spcPts val="0"/>
              </a:spcBef>
              <a:spcAft>
                <a:spcPts val="0"/>
              </a:spcAft>
              <a:buClr>
                <a:srgbClr val="CBD5E1"/>
              </a:buClr>
              <a:buSzPts val="1350"/>
              <a:buFont typeface="Arial"/>
              <a:buAutoNum type="arabicPeriod"/>
            </a:pPr>
            <a:r>
              <a:rPr lang="en-US" sz="1350">
                <a:solidFill>
                  <a:srgbClr val="CBD5E1"/>
                </a:solidFill>
                <a:latin typeface="Arial"/>
                <a:ea typeface="Arial"/>
                <a:cs typeface="Arial"/>
                <a:sym typeface="Arial"/>
              </a:rPr>
              <a:t>Feedback</a:t>
            </a:r>
            <a:endParaRPr sz="135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617"/>
        </a:solidFill>
      </p:bgPr>
    </p:bg>
    <p:spTree>
      <p:nvGrpSpPr>
        <p:cNvPr id="28" name="Shape 28"/>
        <p:cNvGrpSpPr/>
        <p:nvPr/>
      </p:nvGrpSpPr>
      <p:grpSpPr>
        <a:xfrm>
          <a:off x="0" y="0"/>
          <a:ext cx="0" cy="0"/>
          <a:chOff x="0" y="0"/>
          <a:chExt cx="0" cy="0"/>
        </a:xfrm>
      </p:grpSpPr>
      <p:sp>
        <p:nvSpPr>
          <p:cNvPr id="29" name="Google Shape;29;p3"/>
          <p:cNvSpPr/>
          <p:nvPr/>
        </p:nvSpPr>
        <p:spPr>
          <a:xfrm>
            <a:off x="609600" y="872430"/>
            <a:ext cx="8083296" cy="41136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lang="en-US" sz="2700">
                <a:solidFill>
                  <a:srgbClr val="38BDF8"/>
                </a:solidFill>
                <a:latin typeface="Arial"/>
                <a:ea typeface="Arial"/>
                <a:cs typeface="Arial"/>
                <a:sym typeface="Arial"/>
              </a:rPr>
              <a:t>Research Team </a:t>
            </a:r>
            <a:endParaRPr sz="2700">
              <a:solidFill>
                <a:schemeClr val="dk1"/>
              </a:solidFill>
              <a:latin typeface="Calibri"/>
              <a:ea typeface="Calibri"/>
              <a:cs typeface="Calibri"/>
              <a:sym typeface="Calibri"/>
            </a:endParaRPr>
          </a:p>
        </p:txBody>
      </p:sp>
      <p:sp>
        <p:nvSpPr>
          <p:cNvPr id="30" name="Google Shape;30;p3"/>
          <p:cNvSpPr/>
          <p:nvPr/>
        </p:nvSpPr>
        <p:spPr>
          <a:xfrm>
            <a:off x="914400" y="1512390"/>
            <a:ext cx="7620000" cy="2983409"/>
          </a:xfrm>
          <a:prstGeom prst="rect">
            <a:avLst/>
          </a:prstGeom>
          <a:noFill/>
          <a:ln>
            <a:noFill/>
          </a:ln>
        </p:spPr>
        <p:txBody>
          <a:bodyPr anchorCtr="0" anchor="t" bIns="0" lIns="0" spcFirstLastPara="1" rIns="0" wrap="square" tIns="0">
            <a:noAutofit/>
          </a:bodyPr>
          <a:lstStyle/>
          <a:p>
            <a:pPr indent="-342900" lvl="0" marL="342900" marR="0" rtl="0" algn="l">
              <a:lnSpc>
                <a:spcPct val="180000"/>
              </a:lnSpc>
              <a:spcBef>
                <a:spcPts val="0"/>
              </a:spcBef>
              <a:spcAft>
                <a:spcPts val="0"/>
              </a:spcAft>
              <a:buClr>
                <a:srgbClr val="CBD5E1"/>
              </a:buClr>
              <a:buSzPts val="1350"/>
              <a:buFont typeface="Arial"/>
              <a:buChar char="•"/>
            </a:pPr>
            <a:r>
              <a:rPr lang="en-US" sz="1350">
                <a:solidFill>
                  <a:srgbClr val="CBD5E1"/>
                </a:solidFill>
                <a:latin typeface="Arial"/>
                <a:ea typeface="Arial"/>
                <a:cs typeface="Arial"/>
                <a:sym typeface="Arial"/>
              </a:rPr>
              <a:t>Co-Lead: Mike Cooper  (</a:t>
            </a:r>
            <a:r>
              <a:rPr lang="en-US" sz="1350">
                <a:solidFill>
                  <a:srgbClr val="CBD5E1"/>
                </a:solidFill>
              </a:rPr>
              <a:t>@MCooperResearch)</a:t>
            </a:r>
            <a:br>
              <a:rPr lang="en-US" sz="1350">
                <a:solidFill>
                  <a:srgbClr val="CBD5E1"/>
                </a:solidFill>
                <a:latin typeface="Arial"/>
                <a:ea typeface="Arial"/>
                <a:cs typeface="Arial"/>
                <a:sym typeface="Arial"/>
              </a:rPr>
            </a:br>
            <a:r>
              <a:rPr lang="en-US" sz="1350">
                <a:solidFill>
                  <a:srgbClr val="CBD5E1"/>
                </a:solidFill>
                <a:latin typeface="Arial"/>
                <a:ea typeface="Arial"/>
                <a:cs typeface="Arial"/>
                <a:sym typeface="Arial"/>
              </a:rPr>
              <a:t>Co-Lead: Eugene Levanthal (@eleventh19) </a:t>
            </a:r>
            <a:endParaRPr sz="1350">
              <a:solidFill>
                <a:srgbClr val="CBD5E1"/>
              </a:solidFill>
              <a:latin typeface="Arial"/>
              <a:ea typeface="Arial"/>
              <a:cs typeface="Arial"/>
              <a:sym typeface="Arial"/>
            </a:endParaRPr>
          </a:p>
          <a:p>
            <a:pPr indent="-342900" lvl="0" marL="342900" marR="0" rtl="0" algn="l">
              <a:lnSpc>
                <a:spcPct val="180000"/>
              </a:lnSpc>
              <a:spcBef>
                <a:spcPts val="0"/>
              </a:spcBef>
              <a:spcAft>
                <a:spcPts val="0"/>
              </a:spcAft>
              <a:buClr>
                <a:srgbClr val="CBD5E1"/>
              </a:buClr>
              <a:buSzPts val="1350"/>
              <a:buFont typeface="Arial"/>
              <a:buChar char="•"/>
            </a:pPr>
            <a:r>
              <a:rPr lang="en-US" sz="1350">
                <a:solidFill>
                  <a:srgbClr val="CBD5E1"/>
                </a:solidFill>
                <a:latin typeface="Arial"/>
                <a:ea typeface="Arial"/>
                <a:cs typeface="Arial"/>
                <a:sym typeface="Arial"/>
              </a:rPr>
              <a:t>DAO</a:t>
            </a:r>
            <a:r>
              <a:rPr lang="en-US" sz="1350">
                <a:solidFill>
                  <a:srgbClr val="CBD5E1"/>
                </a:solidFill>
              </a:rPr>
              <a:t>s</a:t>
            </a:r>
            <a:r>
              <a:rPr lang="en-US" sz="1350">
                <a:solidFill>
                  <a:srgbClr val="CBD5E1"/>
                </a:solidFill>
                <a:latin typeface="Arial"/>
                <a:ea typeface="Arial"/>
                <a:cs typeface="Arial"/>
                <a:sym typeface="Arial"/>
              </a:rPr>
              <a:t>tar Researchers</a:t>
            </a:r>
            <a:endParaRPr/>
          </a:p>
          <a:p>
            <a:pPr indent="-342900" lvl="1" marL="800100" marR="0" rtl="0" algn="l">
              <a:lnSpc>
                <a:spcPct val="180000"/>
              </a:lnSpc>
              <a:spcBef>
                <a:spcPts val="0"/>
              </a:spcBef>
              <a:spcAft>
                <a:spcPts val="0"/>
              </a:spcAft>
              <a:buClr>
                <a:srgbClr val="CBD5E1"/>
              </a:buClr>
              <a:buSzPts val="1350"/>
              <a:buFont typeface="Arial"/>
              <a:buChar char="•"/>
            </a:pPr>
            <a:r>
              <a:rPr b="0" i="0" lang="en-US" sz="1350" u="none" cap="none" strike="noStrike">
                <a:solidFill>
                  <a:srgbClr val="CBD5E1"/>
                </a:solidFill>
                <a:latin typeface="Arial"/>
                <a:ea typeface="Arial"/>
                <a:cs typeface="Arial"/>
                <a:sym typeface="Arial"/>
              </a:rPr>
              <a:t>Sam McCarthy</a:t>
            </a:r>
            <a:endParaRPr/>
          </a:p>
          <a:p>
            <a:pPr indent="-342900" lvl="1" marL="800100" marR="0" rtl="0" algn="l">
              <a:lnSpc>
                <a:spcPct val="180000"/>
              </a:lnSpc>
              <a:spcBef>
                <a:spcPts val="0"/>
              </a:spcBef>
              <a:spcAft>
                <a:spcPts val="0"/>
              </a:spcAft>
              <a:buClr>
                <a:srgbClr val="CBD5E1"/>
              </a:buClr>
              <a:buSzPts val="1350"/>
              <a:buFont typeface="Arial"/>
              <a:buChar char="•"/>
            </a:pPr>
            <a:r>
              <a:rPr b="0" i="0" lang="en-US" sz="1350" u="none" cap="none" strike="noStrike">
                <a:solidFill>
                  <a:srgbClr val="CBD5E1"/>
                </a:solidFill>
                <a:latin typeface="Arial"/>
                <a:ea typeface="Arial"/>
                <a:cs typeface="Arial"/>
                <a:sym typeface="Arial"/>
              </a:rPr>
              <a:t>Rashmi Abbigeri</a:t>
            </a:r>
            <a:endParaRPr sz="1350">
              <a:solidFill>
                <a:srgbClr val="CBD5E1"/>
              </a:solidFill>
            </a:endParaRPr>
          </a:p>
          <a:p>
            <a:pPr indent="-342900" lvl="1" marL="800100" marR="0" rtl="0" algn="l">
              <a:lnSpc>
                <a:spcPct val="180000"/>
              </a:lnSpc>
              <a:spcBef>
                <a:spcPts val="0"/>
              </a:spcBef>
              <a:spcAft>
                <a:spcPts val="0"/>
              </a:spcAft>
              <a:buClr>
                <a:srgbClr val="CBD5E1"/>
              </a:buClr>
              <a:buSzPts val="1350"/>
              <a:buFont typeface="Arial"/>
              <a:buChar char="•"/>
            </a:pPr>
            <a:r>
              <a:rPr lang="en-US" sz="1350">
                <a:solidFill>
                  <a:srgbClr val="CBD5E1"/>
                </a:solidFill>
              </a:rPr>
              <a:t>Rohit Malekar</a:t>
            </a:r>
            <a:endParaRPr sz="1350">
              <a:solidFill>
                <a:srgbClr val="CBD5E1"/>
              </a:solidFill>
            </a:endParaRPr>
          </a:p>
          <a:p>
            <a:pPr indent="0" lvl="0" marL="0" marR="0" rtl="0" algn="l">
              <a:lnSpc>
                <a:spcPct val="180000"/>
              </a:lnSpc>
              <a:spcBef>
                <a:spcPts val="0"/>
              </a:spcBef>
              <a:spcAft>
                <a:spcPts val="0"/>
              </a:spcAft>
              <a:buNone/>
            </a:pPr>
            <a:r>
              <a:t/>
            </a:r>
            <a:endParaRPr sz="1350">
              <a:solidFill>
                <a:srgbClr val="CBD5E1"/>
              </a:solidFill>
              <a:latin typeface="Arial"/>
              <a:ea typeface="Arial"/>
              <a:cs typeface="Arial"/>
              <a:sym typeface="Arial"/>
            </a:endParaRPr>
          </a:p>
          <a:p>
            <a:pPr indent="-257175" lvl="0" marL="342900" marR="0" rtl="0" algn="l">
              <a:lnSpc>
                <a:spcPct val="180000"/>
              </a:lnSpc>
              <a:spcBef>
                <a:spcPts val="0"/>
              </a:spcBef>
              <a:spcAft>
                <a:spcPts val="0"/>
              </a:spcAft>
              <a:buClr>
                <a:schemeClr val="dk1"/>
              </a:buClr>
              <a:buSzPts val="1350"/>
              <a:buFont typeface="Calibri"/>
              <a:buNone/>
            </a:pPr>
            <a:r>
              <a:t/>
            </a:r>
            <a:endParaRPr sz="135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 name="Shape 34"/>
        <p:cNvGrpSpPr/>
        <p:nvPr/>
      </p:nvGrpSpPr>
      <p:grpSpPr>
        <a:xfrm>
          <a:off x="0" y="0"/>
          <a:ext cx="0" cy="0"/>
          <a:chOff x="0" y="0"/>
          <a:chExt cx="0" cy="0"/>
        </a:xfrm>
      </p:grpSpPr>
      <p:pic>
        <p:nvPicPr>
          <p:cNvPr id="35" name="Google Shape;35;g3c34780cced_0_0" title="generated-image (1).png"/>
          <p:cNvPicPr preferRelativeResize="0"/>
          <p:nvPr/>
        </p:nvPicPr>
        <p:blipFill>
          <a:blip r:embed="rId3">
            <a:alphaModFix/>
          </a:blip>
          <a:stretch>
            <a:fillRect/>
          </a:stretch>
        </p:blipFill>
        <p:spPr>
          <a:xfrm>
            <a:off x="152400" y="152400"/>
            <a:ext cx="8609608" cy="4838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0" name="Shape 40"/>
        <p:cNvGrpSpPr/>
        <p:nvPr/>
      </p:nvGrpSpPr>
      <p:grpSpPr>
        <a:xfrm>
          <a:off x="0" y="0"/>
          <a:ext cx="0" cy="0"/>
          <a:chOff x="0" y="0"/>
          <a:chExt cx="0" cy="0"/>
        </a:xfrm>
      </p:grpSpPr>
      <p:sp>
        <p:nvSpPr>
          <p:cNvPr id="41" name="Google Shape;41;p6"/>
          <p:cNvSpPr/>
          <p:nvPr/>
        </p:nvSpPr>
        <p:spPr>
          <a:xfrm>
            <a:off x="609600" y="872430"/>
            <a:ext cx="8083296" cy="41136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lang="en-US" sz="2700">
                <a:solidFill>
                  <a:srgbClr val="38BDF8"/>
                </a:solidFill>
                <a:latin typeface="Arial"/>
                <a:ea typeface="Arial"/>
                <a:cs typeface="Arial"/>
                <a:sym typeface="Arial"/>
              </a:rPr>
              <a:t>Reported Governance Challenges</a:t>
            </a:r>
            <a:endParaRPr sz="2700">
              <a:solidFill>
                <a:schemeClr val="dk1"/>
              </a:solidFill>
              <a:latin typeface="Calibri"/>
              <a:ea typeface="Calibri"/>
              <a:cs typeface="Calibri"/>
              <a:sym typeface="Calibri"/>
            </a:endParaRPr>
          </a:p>
        </p:txBody>
      </p:sp>
      <p:sp>
        <p:nvSpPr>
          <p:cNvPr id="42" name="Google Shape;42;p6"/>
          <p:cNvSpPr/>
          <p:nvPr/>
        </p:nvSpPr>
        <p:spPr>
          <a:xfrm>
            <a:off x="914400" y="1512390"/>
            <a:ext cx="7620000" cy="2758679"/>
          </a:xfrm>
          <a:prstGeom prst="rect">
            <a:avLst/>
          </a:prstGeom>
          <a:noFill/>
          <a:ln>
            <a:noFill/>
          </a:ln>
        </p:spPr>
        <p:txBody>
          <a:bodyPr anchorCtr="0" anchor="t" bIns="0" lIns="0" spcFirstLastPara="1" rIns="0" wrap="square" tIns="0">
            <a:noAutofit/>
          </a:bodyPr>
          <a:lstStyle/>
          <a:p>
            <a:pPr indent="-342900" lvl="0" marL="342900" marR="0" rtl="0" algn="l">
              <a:lnSpc>
                <a:spcPct val="180000"/>
              </a:lnSpc>
              <a:spcBef>
                <a:spcPts val="0"/>
              </a:spcBef>
              <a:spcAft>
                <a:spcPts val="0"/>
              </a:spcAft>
              <a:buClr>
                <a:srgbClr val="CBD5E1"/>
              </a:buClr>
              <a:buSzPts val="1350"/>
              <a:buFont typeface="Arial"/>
              <a:buAutoNum type="arabicPeriod"/>
            </a:pPr>
            <a:r>
              <a:rPr lang="en-US" sz="1350">
                <a:solidFill>
                  <a:srgbClr val="CBD5E1"/>
                </a:solidFill>
              </a:rPr>
              <a:t>Common agreement on challenges and opportunity:</a:t>
            </a:r>
            <a:endParaRPr/>
          </a:p>
          <a:p>
            <a:pPr indent="-342900" lvl="1" marL="800100" marR="0" rtl="0" algn="l">
              <a:lnSpc>
                <a:spcPct val="180000"/>
              </a:lnSpc>
              <a:spcBef>
                <a:spcPts val="0"/>
              </a:spcBef>
              <a:spcAft>
                <a:spcPts val="0"/>
              </a:spcAft>
              <a:buClr>
                <a:srgbClr val="CBD5E1"/>
              </a:buClr>
              <a:buSzPts val="1350"/>
              <a:buFont typeface="Arial"/>
              <a:buAutoNum type="alphaLcPeriod"/>
            </a:pPr>
            <a:r>
              <a:rPr b="0" i="0" lang="en-US" sz="1350" u="none" cap="none" strike="noStrike">
                <a:solidFill>
                  <a:srgbClr val="CBD5E1"/>
                </a:solidFill>
                <a:latin typeface="Arial"/>
                <a:ea typeface="Arial"/>
                <a:cs typeface="Arial"/>
                <a:sym typeface="Arial"/>
              </a:rPr>
              <a:t>Voting power concentration and representativeness concerns</a:t>
            </a:r>
            <a:endParaRPr b="0" i="0" sz="1350" u="none" cap="none" strike="noStrike">
              <a:solidFill>
                <a:schemeClr val="dk1"/>
              </a:solidFill>
              <a:latin typeface="Calibri"/>
              <a:ea typeface="Calibri"/>
              <a:cs typeface="Calibri"/>
              <a:sym typeface="Calibri"/>
            </a:endParaRPr>
          </a:p>
          <a:p>
            <a:pPr indent="-342900" lvl="1" marL="800100" marR="0" rtl="0" algn="l">
              <a:lnSpc>
                <a:spcPct val="180000"/>
              </a:lnSpc>
              <a:spcBef>
                <a:spcPts val="0"/>
              </a:spcBef>
              <a:spcAft>
                <a:spcPts val="0"/>
              </a:spcAft>
              <a:buClr>
                <a:srgbClr val="CBD5E1"/>
              </a:buClr>
              <a:buSzPts val="1350"/>
              <a:buFont typeface="Arial"/>
              <a:buAutoNum type="alphaLcPeriod"/>
            </a:pPr>
            <a:r>
              <a:rPr b="0" i="0" lang="en-US" sz="1350" u="none" cap="none" strike="noStrike">
                <a:solidFill>
                  <a:srgbClr val="CBD5E1"/>
                </a:solidFill>
                <a:latin typeface="Arial"/>
                <a:ea typeface="Arial"/>
                <a:cs typeface="Arial"/>
                <a:sym typeface="Arial"/>
              </a:rPr>
              <a:t>Low broad-based participation threatening governance legitimacy</a:t>
            </a:r>
            <a:endParaRPr b="0" i="0" sz="1350" u="none" cap="none" strike="noStrike">
              <a:solidFill>
                <a:schemeClr val="dk1"/>
              </a:solidFill>
              <a:latin typeface="Calibri"/>
              <a:ea typeface="Calibri"/>
              <a:cs typeface="Calibri"/>
              <a:sym typeface="Calibri"/>
            </a:endParaRPr>
          </a:p>
          <a:p>
            <a:pPr indent="-342900" lvl="1" marL="800100" marR="0" rtl="0" algn="l">
              <a:lnSpc>
                <a:spcPct val="180000"/>
              </a:lnSpc>
              <a:spcBef>
                <a:spcPts val="0"/>
              </a:spcBef>
              <a:spcAft>
                <a:spcPts val="0"/>
              </a:spcAft>
              <a:buClr>
                <a:srgbClr val="CBD5E1"/>
              </a:buClr>
              <a:buSzPts val="1350"/>
              <a:buFont typeface="Arial"/>
              <a:buAutoNum type="alphaLcPeriod"/>
            </a:pPr>
            <a:r>
              <a:rPr b="0" i="0" lang="en-US" sz="1350" u="none" cap="none" strike="noStrike">
                <a:solidFill>
                  <a:srgbClr val="CBD5E1"/>
                </a:solidFill>
                <a:latin typeface="Arial"/>
                <a:ea typeface="Arial"/>
                <a:cs typeface="Arial"/>
                <a:sym typeface="Arial"/>
              </a:rPr>
              <a:t>Communication fragmentation across stakeholder groups</a:t>
            </a:r>
            <a:endParaRPr b="0" i="0" sz="1350" u="none" cap="none" strike="noStrike">
              <a:solidFill>
                <a:schemeClr val="dk1"/>
              </a:solidFill>
              <a:latin typeface="Calibri"/>
              <a:ea typeface="Calibri"/>
              <a:cs typeface="Calibri"/>
              <a:sym typeface="Calibri"/>
            </a:endParaRPr>
          </a:p>
          <a:p>
            <a:pPr indent="-342900" lvl="1" marL="800100" marR="0" rtl="0" algn="l">
              <a:lnSpc>
                <a:spcPct val="180000"/>
              </a:lnSpc>
              <a:spcBef>
                <a:spcPts val="0"/>
              </a:spcBef>
              <a:spcAft>
                <a:spcPts val="0"/>
              </a:spcAft>
              <a:buClr>
                <a:srgbClr val="CBD5E1"/>
              </a:buClr>
              <a:buSzPts val="1350"/>
              <a:buFont typeface="Arial"/>
              <a:buAutoNum type="alphaLcPeriod"/>
            </a:pPr>
            <a:r>
              <a:rPr b="0" i="0" lang="en-US" sz="1350" u="none" cap="none" strike="noStrike">
                <a:solidFill>
                  <a:srgbClr val="CBD5E1"/>
                </a:solidFill>
                <a:latin typeface="Arial"/>
                <a:ea typeface="Arial"/>
                <a:cs typeface="Arial"/>
                <a:sym typeface="Arial"/>
              </a:rPr>
              <a:t>De facto centralization of decision-making creating process friction</a:t>
            </a:r>
            <a:endParaRPr b="0" i="0" sz="1350" u="none" cap="none" strike="noStrike">
              <a:solidFill>
                <a:schemeClr val="dk1"/>
              </a:solidFill>
              <a:latin typeface="Calibri"/>
              <a:ea typeface="Calibri"/>
              <a:cs typeface="Calibri"/>
              <a:sym typeface="Calibri"/>
            </a:endParaRPr>
          </a:p>
          <a:p>
            <a:pPr indent="-342900" lvl="1" marL="800100" marR="0" rtl="0" algn="l">
              <a:lnSpc>
                <a:spcPct val="180000"/>
              </a:lnSpc>
              <a:spcBef>
                <a:spcPts val="0"/>
              </a:spcBef>
              <a:spcAft>
                <a:spcPts val="0"/>
              </a:spcAft>
              <a:buClr>
                <a:srgbClr val="CBD5E1"/>
              </a:buClr>
              <a:buSzPts val="1350"/>
              <a:buFont typeface="Arial"/>
              <a:buAutoNum type="alphaLcPeriod"/>
            </a:pPr>
            <a:r>
              <a:rPr b="0" i="0" lang="en-US" sz="1350" u="none" cap="none" strike="noStrike">
                <a:solidFill>
                  <a:srgbClr val="CBD5E1"/>
                </a:solidFill>
                <a:latin typeface="Arial"/>
                <a:ea typeface="Arial"/>
                <a:cs typeface="Arial"/>
                <a:sym typeface="Arial"/>
              </a:rPr>
              <a:t>Treasury and institutional liability risk</a:t>
            </a:r>
            <a:endParaRPr b="0" i="0" sz="1350" u="none" cap="none" strike="noStrike">
              <a:solidFill>
                <a:srgbClr val="CBD5E1"/>
              </a:solidFill>
              <a:latin typeface="Arial"/>
              <a:ea typeface="Arial"/>
              <a:cs typeface="Arial"/>
              <a:sym typeface="Arial"/>
            </a:endParaRPr>
          </a:p>
          <a:p>
            <a:pPr indent="0" lvl="0" marL="0" marR="0" rtl="0" algn="l">
              <a:lnSpc>
                <a:spcPct val="180000"/>
              </a:lnSpc>
              <a:spcBef>
                <a:spcPts val="0"/>
              </a:spcBef>
              <a:spcAft>
                <a:spcPts val="0"/>
              </a:spcAft>
              <a:buNone/>
            </a:pPr>
            <a:r>
              <a:t/>
            </a:r>
            <a:endParaRPr sz="1350">
              <a:solidFill>
                <a:srgbClr val="CBD5E1"/>
              </a:solidFill>
            </a:endParaRPr>
          </a:p>
          <a:p>
            <a:pPr indent="-257175" lvl="0" marL="342900" marR="0" rtl="0" algn="l">
              <a:lnSpc>
                <a:spcPct val="180000"/>
              </a:lnSpc>
              <a:spcBef>
                <a:spcPts val="0"/>
              </a:spcBef>
              <a:spcAft>
                <a:spcPts val="0"/>
              </a:spcAft>
              <a:buClr>
                <a:schemeClr val="dk1"/>
              </a:buClr>
              <a:buSzPts val="1350"/>
              <a:buFont typeface="Calibri"/>
              <a:buNone/>
            </a:pPr>
            <a:r>
              <a:t/>
            </a:r>
            <a:endParaRPr sz="1350">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47" name="Shape 47"/>
        <p:cNvGrpSpPr/>
        <p:nvPr/>
      </p:nvGrpSpPr>
      <p:grpSpPr>
        <a:xfrm>
          <a:off x="0" y="0"/>
          <a:ext cx="0" cy="0"/>
          <a:chOff x="0" y="0"/>
          <a:chExt cx="0" cy="0"/>
        </a:xfrm>
      </p:grpSpPr>
      <p:sp>
        <p:nvSpPr>
          <p:cNvPr id="48" name="Google Shape;48;p7"/>
          <p:cNvSpPr/>
          <p:nvPr/>
        </p:nvSpPr>
        <p:spPr>
          <a:xfrm>
            <a:off x="609600" y="1512391"/>
            <a:ext cx="7924800" cy="1478012"/>
          </a:xfrm>
          <a:prstGeom prst="rect">
            <a:avLst/>
          </a:prstGeom>
          <a:solidFill>
            <a:srgbClr val="1E293B"/>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49" name="Google Shape;49;p7"/>
          <p:cNvSpPr/>
          <p:nvPr/>
        </p:nvSpPr>
        <p:spPr>
          <a:xfrm>
            <a:off x="609600" y="3219004"/>
            <a:ext cx="7924800" cy="1478012"/>
          </a:xfrm>
          <a:prstGeom prst="rect">
            <a:avLst/>
          </a:prstGeom>
          <a:solidFill>
            <a:srgbClr val="1E293B"/>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50" name="Google Shape;50;p7"/>
          <p:cNvSpPr/>
          <p:nvPr/>
        </p:nvSpPr>
        <p:spPr>
          <a:xfrm>
            <a:off x="609600" y="872430"/>
            <a:ext cx="8083296" cy="41136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lang="en-US" sz="2700">
                <a:solidFill>
                  <a:srgbClr val="38BDF8"/>
                </a:solidFill>
                <a:latin typeface="Arial"/>
                <a:ea typeface="Arial"/>
                <a:cs typeface="Arial"/>
                <a:sym typeface="Arial"/>
              </a:rPr>
              <a:t>Primary Research Questions</a:t>
            </a:r>
            <a:endParaRPr sz="2700">
              <a:solidFill>
                <a:schemeClr val="dk1"/>
              </a:solidFill>
              <a:latin typeface="Calibri"/>
              <a:ea typeface="Calibri"/>
              <a:cs typeface="Calibri"/>
              <a:sym typeface="Calibri"/>
            </a:endParaRPr>
          </a:p>
        </p:txBody>
      </p:sp>
      <p:sp>
        <p:nvSpPr>
          <p:cNvPr id="51" name="Google Shape;51;p7"/>
          <p:cNvSpPr/>
          <p:nvPr/>
        </p:nvSpPr>
        <p:spPr>
          <a:xfrm>
            <a:off x="838200" y="1740991"/>
            <a:ext cx="7616952" cy="228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1500"/>
              <a:buFont typeface="Arial"/>
              <a:buNone/>
            </a:pPr>
            <a:r>
              <a:rPr b="1" lang="en-US" sz="1500">
                <a:solidFill>
                  <a:srgbClr val="38BDF8"/>
                </a:solidFill>
                <a:latin typeface="Arial"/>
                <a:ea typeface="Arial"/>
                <a:cs typeface="Arial"/>
                <a:sym typeface="Arial"/>
              </a:rPr>
              <a:t>RQ1: Root Causes</a:t>
            </a:r>
            <a:endParaRPr sz="1500">
              <a:solidFill>
                <a:schemeClr val="dk1"/>
              </a:solidFill>
              <a:latin typeface="Calibri"/>
              <a:ea typeface="Calibri"/>
              <a:cs typeface="Calibri"/>
              <a:sym typeface="Calibri"/>
            </a:endParaRPr>
          </a:p>
        </p:txBody>
      </p:sp>
      <p:sp>
        <p:nvSpPr>
          <p:cNvPr id="52" name="Google Shape;52;p7"/>
          <p:cNvSpPr/>
          <p:nvPr/>
        </p:nvSpPr>
        <p:spPr>
          <a:xfrm>
            <a:off x="838200" y="2121991"/>
            <a:ext cx="7467600" cy="63981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lang="en-US" sz="1200">
                <a:solidFill>
                  <a:srgbClr val="CBD5E1"/>
                </a:solidFill>
                <a:latin typeface="Arial"/>
                <a:ea typeface="Arial"/>
                <a:cs typeface="Arial"/>
                <a:sym typeface="Arial"/>
              </a:rPr>
              <a:t>What are the root causes of communication and operational inefficiency within ENS DAO governance, and how are these causes perceived and prioritized differently across stakeholder groups (stewards, delegates, token holders, service providers)?</a:t>
            </a:r>
            <a:endParaRPr sz="1200">
              <a:solidFill>
                <a:schemeClr val="dk1"/>
              </a:solidFill>
              <a:latin typeface="Calibri"/>
              <a:ea typeface="Calibri"/>
              <a:cs typeface="Calibri"/>
              <a:sym typeface="Calibri"/>
            </a:endParaRPr>
          </a:p>
        </p:txBody>
      </p:sp>
      <p:sp>
        <p:nvSpPr>
          <p:cNvPr id="53" name="Google Shape;53;p7"/>
          <p:cNvSpPr/>
          <p:nvPr/>
        </p:nvSpPr>
        <p:spPr>
          <a:xfrm>
            <a:off x="838200" y="3447604"/>
            <a:ext cx="7616952" cy="228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1500"/>
              <a:buFont typeface="Arial"/>
              <a:buNone/>
            </a:pPr>
            <a:r>
              <a:rPr b="1" lang="en-US" sz="1500">
                <a:solidFill>
                  <a:srgbClr val="38BDF8"/>
                </a:solidFill>
                <a:latin typeface="Arial"/>
                <a:ea typeface="Arial"/>
                <a:cs typeface="Arial"/>
                <a:sym typeface="Arial"/>
              </a:rPr>
              <a:t>RQ2: Solutions</a:t>
            </a:r>
            <a:endParaRPr sz="1500">
              <a:solidFill>
                <a:schemeClr val="dk1"/>
              </a:solidFill>
              <a:latin typeface="Calibri"/>
              <a:ea typeface="Calibri"/>
              <a:cs typeface="Calibri"/>
              <a:sym typeface="Calibri"/>
            </a:endParaRPr>
          </a:p>
        </p:txBody>
      </p:sp>
      <p:sp>
        <p:nvSpPr>
          <p:cNvPr id="54" name="Google Shape;54;p7"/>
          <p:cNvSpPr/>
          <p:nvPr/>
        </p:nvSpPr>
        <p:spPr>
          <a:xfrm>
            <a:off x="838200" y="3828604"/>
            <a:ext cx="7467600" cy="639812"/>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lang="en-US" sz="1200">
                <a:solidFill>
                  <a:srgbClr val="CBD5E1"/>
                </a:solidFill>
                <a:latin typeface="Arial"/>
                <a:ea typeface="Arial"/>
                <a:cs typeface="Arial"/>
                <a:sym typeface="Arial"/>
              </a:rPr>
              <a:t>What changes—informed by comparative DAO research, organizational theory, and stakeholder input—are most likely to improve ENS DAO coordination and execution effectiveness while maintaining commitment to decentralization and broad stakeholder inclusion?</a:t>
            </a:r>
            <a:endParaRPr sz="12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59" name="Shape 59"/>
        <p:cNvGrpSpPr/>
        <p:nvPr/>
      </p:nvGrpSpPr>
      <p:grpSpPr>
        <a:xfrm>
          <a:off x="0" y="0"/>
          <a:ext cx="0" cy="0"/>
          <a:chOff x="0" y="0"/>
          <a:chExt cx="0" cy="0"/>
        </a:xfrm>
      </p:grpSpPr>
      <p:sp>
        <p:nvSpPr>
          <p:cNvPr id="60" name="Google Shape;60;p8"/>
          <p:cNvSpPr/>
          <p:nvPr/>
        </p:nvSpPr>
        <p:spPr>
          <a:xfrm>
            <a:off x="609600" y="1436191"/>
            <a:ext cx="7924800" cy="731341"/>
          </a:xfrm>
          <a:prstGeom prst="rect">
            <a:avLst/>
          </a:prstGeom>
          <a:solidFill>
            <a:srgbClr val="C55A11"/>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61" name="Google Shape;61;p8"/>
          <p:cNvSpPr/>
          <p:nvPr/>
        </p:nvSpPr>
        <p:spPr>
          <a:xfrm>
            <a:off x="609600" y="2319933"/>
            <a:ext cx="7924800" cy="731341"/>
          </a:xfrm>
          <a:prstGeom prst="rect">
            <a:avLst/>
          </a:prstGeom>
          <a:solidFill>
            <a:srgbClr val="C55A11"/>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62" name="Google Shape;62;p8"/>
          <p:cNvSpPr/>
          <p:nvPr/>
        </p:nvSpPr>
        <p:spPr>
          <a:xfrm>
            <a:off x="609600" y="3203676"/>
            <a:ext cx="7924800" cy="1249500"/>
          </a:xfrm>
          <a:prstGeom prst="rect">
            <a:avLst/>
          </a:prstGeom>
          <a:solidFill>
            <a:srgbClr val="C55A11"/>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63" name="Google Shape;63;p8"/>
          <p:cNvSpPr/>
          <p:nvPr/>
        </p:nvSpPr>
        <p:spPr>
          <a:xfrm>
            <a:off x="606550" y="462580"/>
            <a:ext cx="8083200" cy="4113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lang="en-US" sz="2700">
                <a:solidFill>
                  <a:srgbClr val="38BDF8"/>
                </a:solidFill>
              </a:rPr>
              <a:t>Three</a:t>
            </a:r>
            <a:r>
              <a:rPr b="1" lang="en-US" sz="2700">
                <a:solidFill>
                  <a:srgbClr val="38BDF8"/>
                </a:solidFill>
                <a:latin typeface="Arial"/>
                <a:ea typeface="Arial"/>
                <a:cs typeface="Arial"/>
                <a:sym typeface="Arial"/>
              </a:rPr>
              <a:t>-Phase Methodology*</a:t>
            </a:r>
            <a:endParaRPr sz="2700">
              <a:solidFill>
                <a:schemeClr val="dk1"/>
              </a:solidFill>
              <a:latin typeface="Calibri"/>
              <a:ea typeface="Calibri"/>
              <a:cs typeface="Calibri"/>
              <a:sym typeface="Calibri"/>
            </a:endParaRPr>
          </a:p>
        </p:txBody>
      </p:sp>
      <p:sp>
        <p:nvSpPr>
          <p:cNvPr id="64" name="Google Shape;64;p8"/>
          <p:cNvSpPr/>
          <p:nvPr/>
        </p:nvSpPr>
        <p:spPr>
          <a:xfrm>
            <a:off x="762000" y="1588591"/>
            <a:ext cx="777240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BDF8"/>
              </a:buClr>
              <a:buSzPts val="1200"/>
              <a:buFont typeface="Arial"/>
              <a:buNone/>
            </a:pPr>
            <a:r>
              <a:rPr b="1" lang="en-US" sz="1200">
                <a:solidFill>
                  <a:srgbClr val="38BDF8"/>
                </a:solidFill>
                <a:latin typeface="Arial"/>
                <a:ea typeface="Arial"/>
                <a:cs typeface="Arial"/>
                <a:sym typeface="Arial"/>
              </a:rPr>
              <a:t>Phas</a:t>
            </a:r>
            <a:r>
              <a:rPr b="1" lang="en-US" sz="1200">
                <a:solidFill>
                  <a:srgbClr val="38BDF8"/>
                </a:solidFill>
              </a:rPr>
              <a:t>e 1 (February 2 – March 2) S</a:t>
            </a:r>
            <a:r>
              <a:rPr b="1" lang="en-US" sz="1200">
                <a:solidFill>
                  <a:srgbClr val="38BDF8"/>
                </a:solidFill>
                <a:latin typeface="Arial"/>
                <a:ea typeface="Arial"/>
                <a:cs typeface="Arial"/>
                <a:sym typeface="Arial"/>
              </a:rPr>
              <a:t>takeholder Analysis &amp; Pre-Retro Data Collection</a:t>
            </a:r>
            <a:endParaRPr sz="1200">
              <a:solidFill>
                <a:schemeClr val="dk1"/>
              </a:solidFill>
              <a:latin typeface="Calibri"/>
              <a:ea typeface="Calibri"/>
              <a:cs typeface="Calibri"/>
              <a:sym typeface="Calibri"/>
            </a:endParaRPr>
          </a:p>
        </p:txBody>
      </p:sp>
      <p:sp>
        <p:nvSpPr>
          <p:cNvPr id="65" name="Google Shape;65;p8"/>
          <p:cNvSpPr/>
          <p:nvPr/>
        </p:nvSpPr>
        <p:spPr>
          <a:xfrm>
            <a:off x="762000" y="1801862"/>
            <a:ext cx="777240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lang="en-US" sz="1200">
                <a:solidFill>
                  <a:srgbClr val="CBD5E1"/>
                </a:solidFill>
                <a:latin typeface="Arial"/>
                <a:ea typeface="Arial"/>
                <a:cs typeface="Arial"/>
                <a:sym typeface="Arial"/>
              </a:rPr>
              <a:t>Build evidence-based understanding through interviews, community discussions, and data repository setup</a:t>
            </a:r>
            <a:endParaRPr sz="1200">
              <a:solidFill>
                <a:schemeClr val="dk1"/>
              </a:solidFill>
              <a:latin typeface="Calibri"/>
              <a:ea typeface="Calibri"/>
              <a:cs typeface="Calibri"/>
              <a:sym typeface="Calibri"/>
            </a:endParaRPr>
          </a:p>
        </p:txBody>
      </p:sp>
      <p:sp>
        <p:nvSpPr>
          <p:cNvPr id="66" name="Google Shape;66;p8"/>
          <p:cNvSpPr/>
          <p:nvPr/>
        </p:nvSpPr>
        <p:spPr>
          <a:xfrm>
            <a:off x="762000" y="2472333"/>
            <a:ext cx="777240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BDF8"/>
              </a:buClr>
              <a:buSzPts val="1200"/>
              <a:buFont typeface="Arial"/>
              <a:buNone/>
            </a:pPr>
            <a:r>
              <a:rPr b="1" lang="en-US" sz="1200">
                <a:solidFill>
                  <a:srgbClr val="38BDF8"/>
                </a:solidFill>
                <a:latin typeface="Arial"/>
                <a:ea typeface="Arial"/>
                <a:cs typeface="Arial"/>
                <a:sym typeface="Arial"/>
              </a:rPr>
              <a:t>Phase</a:t>
            </a:r>
            <a:r>
              <a:rPr b="1" lang="en-US" sz="1200">
                <a:solidFill>
                  <a:srgbClr val="38BDF8"/>
                </a:solidFill>
              </a:rPr>
              <a:t> 2 (March 2 – March 23</a:t>
            </a:r>
            <a:r>
              <a:rPr b="1" lang="en-US" sz="1200">
                <a:solidFill>
                  <a:srgbClr val="38BDF8"/>
                </a:solidFill>
              </a:rPr>
              <a:t>):</a:t>
            </a:r>
            <a:r>
              <a:rPr b="1" lang="en-US" sz="1200">
                <a:solidFill>
                  <a:srgbClr val="38BDF8"/>
                </a:solidFill>
              </a:rPr>
              <a:t> </a:t>
            </a:r>
            <a:r>
              <a:rPr b="1" lang="en-US" sz="1200">
                <a:solidFill>
                  <a:srgbClr val="38BDF8"/>
                </a:solidFill>
                <a:latin typeface="Arial"/>
                <a:ea typeface="Arial"/>
                <a:cs typeface="Arial"/>
                <a:sym typeface="Arial"/>
              </a:rPr>
              <a:t>Comparative DAO Research</a:t>
            </a:r>
            <a:endParaRPr sz="1200">
              <a:solidFill>
                <a:schemeClr val="dk1"/>
              </a:solidFill>
              <a:latin typeface="Calibri"/>
              <a:ea typeface="Calibri"/>
              <a:cs typeface="Calibri"/>
              <a:sym typeface="Calibri"/>
            </a:endParaRPr>
          </a:p>
        </p:txBody>
      </p:sp>
      <p:sp>
        <p:nvSpPr>
          <p:cNvPr id="67" name="Google Shape;67;p8"/>
          <p:cNvSpPr/>
          <p:nvPr/>
        </p:nvSpPr>
        <p:spPr>
          <a:xfrm>
            <a:off x="762000" y="2685604"/>
            <a:ext cx="777240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lang="en-US" sz="1200">
                <a:solidFill>
                  <a:srgbClr val="CBD5E1"/>
                </a:solidFill>
                <a:latin typeface="Arial"/>
                <a:ea typeface="Arial"/>
                <a:cs typeface="Arial"/>
                <a:sym typeface="Arial"/>
              </a:rPr>
              <a:t>Document reforms in 4-6 comparable DAOs, synthesize evidence-graded catalogue of candidate solutions</a:t>
            </a:r>
            <a:endParaRPr sz="1200">
              <a:solidFill>
                <a:schemeClr val="dk1"/>
              </a:solidFill>
              <a:latin typeface="Calibri"/>
              <a:ea typeface="Calibri"/>
              <a:cs typeface="Calibri"/>
              <a:sym typeface="Calibri"/>
            </a:endParaRPr>
          </a:p>
        </p:txBody>
      </p:sp>
      <p:sp>
        <p:nvSpPr>
          <p:cNvPr id="68" name="Google Shape;68;p8"/>
          <p:cNvSpPr/>
          <p:nvPr/>
        </p:nvSpPr>
        <p:spPr>
          <a:xfrm>
            <a:off x="762000" y="3356074"/>
            <a:ext cx="777240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BDF8"/>
              </a:buClr>
              <a:buSzPts val="1200"/>
              <a:buFont typeface="Arial"/>
              <a:buNone/>
            </a:pPr>
            <a:r>
              <a:rPr b="1" lang="en-US" sz="1200">
                <a:solidFill>
                  <a:srgbClr val="38BDF8"/>
                </a:solidFill>
                <a:latin typeface="Arial"/>
                <a:ea typeface="Arial"/>
                <a:cs typeface="Arial"/>
                <a:sym typeface="Arial"/>
              </a:rPr>
              <a:t>Phase </a:t>
            </a:r>
            <a:r>
              <a:rPr b="1" lang="en-US" sz="1200">
                <a:solidFill>
                  <a:srgbClr val="38BDF8"/>
                </a:solidFill>
              </a:rPr>
              <a:t>3 (March 23 – April 20)</a:t>
            </a:r>
            <a:r>
              <a:rPr b="1" lang="en-US" sz="1200">
                <a:solidFill>
                  <a:srgbClr val="38BDF8"/>
                </a:solidFill>
                <a:latin typeface="Arial"/>
                <a:ea typeface="Arial"/>
                <a:cs typeface="Arial"/>
                <a:sym typeface="Arial"/>
              </a:rPr>
              <a:t>: Retrospective Assessment and </a:t>
            </a:r>
            <a:r>
              <a:rPr b="1" lang="en-US" sz="1200">
                <a:solidFill>
                  <a:srgbClr val="38BDF8"/>
                </a:solidFill>
              </a:rPr>
              <a:t>Recommendations</a:t>
            </a:r>
            <a:endParaRPr sz="1200">
              <a:solidFill>
                <a:schemeClr val="dk1"/>
              </a:solidFill>
              <a:latin typeface="Calibri"/>
              <a:ea typeface="Calibri"/>
              <a:cs typeface="Calibri"/>
              <a:sym typeface="Calibri"/>
            </a:endParaRPr>
          </a:p>
        </p:txBody>
      </p:sp>
      <p:sp>
        <p:nvSpPr>
          <p:cNvPr id="69" name="Google Shape;69;p8"/>
          <p:cNvSpPr/>
          <p:nvPr/>
        </p:nvSpPr>
        <p:spPr>
          <a:xfrm>
            <a:off x="762000" y="3569345"/>
            <a:ext cx="777240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rPr lang="en-US" sz="1200">
                <a:solidFill>
                  <a:srgbClr val="CBD5E1"/>
                </a:solidFill>
                <a:latin typeface="Arial"/>
                <a:ea typeface="Arial"/>
                <a:cs typeface="Arial"/>
                <a:sym typeface="Arial"/>
              </a:rPr>
              <a:t>Analyze spending and governance decisions against intended outcomes, identify root causes and patterns</a:t>
            </a:r>
            <a:endParaRPr sz="1200">
              <a:solidFill>
                <a:srgbClr val="CBD5E1"/>
              </a:solidFill>
              <a:latin typeface="Arial"/>
              <a:ea typeface="Arial"/>
              <a:cs typeface="Arial"/>
              <a:sym typeface="Arial"/>
            </a:endParaRPr>
          </a:p>
          <a:p>
            <a:pPr indent="0" lvl="0" marL="0" rtl="0" algn="l">
              <a:lnSpc>
                <a:spcPct val="140000"/>
              </a:lnSpc>
              <a:spcBef>
                <a:spcPts val="0"/>
              </a:spcBef>
              <a:spcAft>
                <a:spcPts val="0"/>
              </a:spcAft>
              <a:buClr>
                <a:srgbClr val="CBD5E1"/>
              </a:buClr>
              <a:buSzPts val="1200"/>
              <a:buFont typeface="Arial"/>
              <a:buNone/>
            </a:pPr>
            <a:r>
              <a:rPr lang="en-US" sz="1200">
                <a:solidFill>
                  <a:srgbClr val="CBD5E1"/>
                </a:solidFill>
              </a:rPr>
              <a:t>Integrate findings, develop prioritized roadmap, produce final report and community-facing materials</a:t>
            </a:r>
            <a:endParaRPr sz="1200">
              <a:solidFill>
                <a:schemeClr val="dk1"/>
              </a:solidFill>
              <a:latin typeface="Calibri"/>
              <a:ea typeface="Calibri"/>
              <a:cs typeface="Calibri"/>
              <a:sym typeface="Calibri"/>
            </a:endParaRPr>
          </a:p>
          <a:p>
            <a:pPr indent="0" lvl="0" marL="0" marR="0" rtl="0" algn="l">
              <a:lnSpc>
                <a:spcPct val="140000"/>
              </a:lnSpc>
              <a:spcBef>
                <a:spcPts val="0"/>
              </a:spcBef>
              <a:spcAft>
                <a:spcPts val="0"/>
              </a:spcAft>
              <a:buClr>
                <a:srgbClr val="CBD5E1"/>
              </a:buClr>
              <a:buSzPts val="1200"/>
              <a:buFont typeface="Arial"/>
              <a:buNone/>
            </a:pPr>
            <a:r>
              <a:t/>
            </a:r>
            <a:endParaRPr sz="1200">
              <a:solidFill>
                <a:srgbClr val="CBD5E1"/>
              </a:solidFill>
            </a:endParaRPr>
          </a:p>
        </p:txBody>
      </p:sp>
      <p:sp>
        <p:nvSpPr>
          <p:cNvPr id="70" name="Google Shape;70;p8"/>
          <p:cNvSpPr/>
          <p:nvPr/>
        </p:nvSpPr>
        <p:spPr>
          <a:xfrm>
            <a:off x="762000" y="4453086"/>
            <a:ext cx="7772400" cy="213271"/>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t/>
            </a:r>
            <a:endParaRPr sz="1200">
              <a:solidFill>
                <a:schemeClr val="dk1"/>
              </a:solidFill>
              <a:latin typeface="Calibri"/>
              <a:ea typeface="Calibri"/>
              <a:cs typeface="Calibri"/>
              <a:sym typeface="Calibri"/>
            </a:endParaRPr>
          </a:p>
        </p:txBody>
      </p:sp>
      <p:sp>
        <p:nvSpPr>
          <p:cNvPr id="71" name="Google Shape;71;p8"/>
          <p:cNvSpPr txBox="1"/>
          <p:nvPr/>
        </p:nvSpPr>
        <p:spPr>
          <a:xfrm>
            <a:off x="599400" y="896525"/>
            <a:ext cx="7894500" cy="387300"/>
          </a:xfrm>
          <a:prstGeom prst="rect">
            <a:avLst/>
          </a:prstGeom>
          <a:noFill/>
          <a:ln>
            <a:noFill/>
          </a:ln>
        </p:spPr>
        <p:txBody>
          <a:bodyPr anchorCtr="0" anchor="t" bIns="91425" lIns="91425" spcFirstLastPara="1" rIns="91425" wrap="square" tIns="91425">
            <a:noAutofit/>
          </a:bodyPr>
          <a:lstStyle/>
          <a:p>
            <a:pPr indent="0" lvl="0" marL="0" rtl="0" algn="l">
              <a:lnSpc>
                <a:spcPct val="180000"/>
              </a:lnSpc>
              <a:spcBef>
                <a:spcPts val="0"/>
              </a:spcBef>
              <a:spcAft>
                <a:spcPts val="0"/>
              </a:spcAft>
              <a:buClr>
                <a:schemeClr val="dk1"/>
              </a:buClr>
              <a:buSzPts val="1100"/>
              <a:buFont typeface="Arial"/>
              <a:buNone/>
            </a:pPr>
            <a:r>
              <a:rPr b="1" lang="en-US" sz="1350" u="sng">
                <a:solidFill>
                  <a:srgbClr val="CBD5E1"/>
                </a:solidFill>
              </a:rPr>
              <a:t>Ongoing: Biweekly check-ins during regularly scheduled MetaGov calls</a:t>
            </a:r>
            <a:endParaRPr b="1" sz="1350" u="sng">
              <a:solidFill>
                <a:schemeClr val="dk1"/>
              </a:solidFill>
              <a:latin typeface="Calibri"/>
              <a:ea typeface="Calibri"/>
              <a:cs typeface="Calibri"/>
              <a:sym typeface="Calibri"/>
            </a:endParaRPr>
          </a:p>
          <a:p>
            <a:pPr indent="0" lvl="0" marL="0" rtl="0" algn="l">
              <a:spcBef>
                <a:spcPts val="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76" name="Shape 76"/>
        <p:cNvGrpSpPr/>
        <p:nvPr/>
      </p:nvGrpSpPr>
      <p:grpSpPr>
        <a:xfrm>
          <a:off x="0" y="0"/>
          <a:ext cx="0" cy="0"/>
          <a:chOff x="0" y="0"/>
          <a:chExt cx="0" cy="0"/>
        </a:xfrm>
      </p:grpSpPr>
      <p:sp>
        <p:nvSpPr>
          <p:cNvPr id="77" name="Google Shape;77;p10"/>
          <p:cNvSpPr/>
          <p:nvPr/>
        </p:nvSpPr>
        <p:spPr>
          <a:xfrm>
            <a:off x="195950" y="745125"/>
            <a:ext cx="7924800" cy="1972200"/>
          </a:xfrm>
          <a:prstGeom prst="rect">
            <a:avLst/>
          </a:prstGeom>
          <a:solidFill>
            <a:srgbClr val="1E293B"/>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78" name="Google Shape;78;p10"/>
          <p:cNvSpPr/>
          <p:nvPr/>
        </p:nvSpPr>
        <p:spPr>
          <a:xfrm>
            <a:off x="195950" y="2945900"/>
            <a:ext cx="7924800" cy="1972200"/>
          </a:xfrm>
          <a:prstGeom prst="rect">
            <a:avLst/>
          </a:prstGeom>
          <a:solidFill>
            <a:srgbClr val="1E293B"/>
          </a:solidFill>
          <a:ln>
            <a:noFill/>
          </a:ln>
        </p:spPr>
        <p:txBody>
          <a:bodyPr anchorCtr="0" anchor="ctr" bIns="0" lIns="0" spcFirstLastPara="1" rIns="0" wrap="square" tIns="0">
            <a:norm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79" name="Google Shape;79;p10"/>
          <p:cNvSpPr/>
          <p:nvPr/>
        </p:nvSpPr>
        <p:spPr>
          <a:xfrm>
            <a:off x="530352" y="225028"/>
            <a:ext cx="8083296" cy="411361"/>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700"/>
              <a:buFont typeface="Arial"/>
              <a:buNone/>
            </a:pPr>
            <a:r>
              <a:rPr b="1" lang="en-US" sz="2700">
                <a:solidFill>
                  <a:srgbClr val="38BDF8"/>
                </a:solidFill>
                <a:latin typeface="Arial"/>
                <a:ea typeface="Arial"/>
                <a:cs typeface="Arial"/>
                <a:sym typeface="Arial"/>
              </a:rPr>
              <a:t>Phase 1 Overview</a:t>
            </a:r>
            <a:endParaRPr sz="2700">
              <a:solidFill>
                <a:schemeClr val="dk1"/>
              </a:solidFill>
              <a:latin typeface="Calibri"/>
              <a:ea typeface="Calibri"/>
              <a:cs typeface="Calibri"/>
              <a:sym typeface="Calibri"/>
            </a:endParaRPr>
          </a:p>
        </p:txBody>
      </p:sp>
      <p:sp>
        <p:nvSpPr>
          <p:cNvPr id="80" name="Google Shape;80;p10"/>
          <p:cNvSpPr/>
          <p:nvPr/>
        </p:nvSpPr>
        <p:spPr>
          <a:xfrm>
            <a:off x="500793" y="937172"/>
            <a:ext cx="7461600" cy="320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100"/>
              <a:buFont typeface="Arial"/>
              <a:buNone/>
            </a:pPr>
            <a:r>
              <a:rPr b="1" lang="en-US" sz="2100">
                <a:solidFill>
                  <a:srgbClr val="38BDF8"/>
                </a:solidFill>
                <a:latin typeface="Arial"/>
                <a:ea typeface="Arial"/>
                <a:cs typeface="Arial"/>
                <a:sym typeface="Arial"/>
              </a:rPr>
              <a:t>Phase 1A: Stakeholder Analysis</a:t>
            </a:r>
            <a:endParaRPr sz="2100">
              <a:solidFill>
                <a:schemeClr val="dk1"/>
              </a:solidFill>
              <a:latin typeface="Calibri"/>
              <a:ea typeface="Calibri"/>
              <a:cs typeface="Calibri"/>
              <a:sym typeface="Calibri"/>
            </a:endParaRPr>
          </a:p>
        </p:txBody>
      </p:sp>
      <p:sp>
        <p:nvSpPr>
          <p:cNvPr id="81" name="Google Shape;81;p10"/>
          <p:cNvSpPr/>
          <p:nvPr/>
        </p:nvSpPr>
        <p:spPr>
          <a:xfrm>
            <a:off x="500793" y="1409553"/>
            <a:ext cx="7461600" cy="20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BDF8"/>
              </a:buClr>
              <a:buSzPts val="1140"/>
              <a:buFont typeface="Arial"/>
              <a:buNone/>
            </a:pPr>
            <a:r>
              <a:rPr b="1" lang="en-US" sz="1140">
                <a:solidFill>
                  <a:srgbClr val="38BDF8"/>
                </a:solidFill>
                <a:latin typeface="Arial"/>
                <a:ea typeface="Arial"/>
                <a:cs typeface="Arial"/>
                <a:sym typeface="Arial"/>
              </a:rPr>
              <a:t>Data Collection:</a:t>
            </a:r>
            <a:endParaRPr sz="1140">
              <a:solidFill>
                <a:schemeClr val="dk1"/>
              </a:solidFill>
              <a:latin typeface="Calibri"/>
              <a:ea typeface="Calibri"/>
              <a:cs typeface="Calibri"/>
              <a:sym typeface="Calibri"/>
            </a:endParaRPr>
          </a:p>
        </p:txBody>
      </p:sp>
      <p:sp>
        <p:nvSpPr>
          <p:cNvPr id="82" name="Google Shape;82;p10"/>
          <p:cNvSpPr/>
          <p:nvPr/>
        </p:nvSpPr>
        <p:spPr>
          <a:xfrm>
            <a:off x="500793" y="1688457"/>
            <a:ext cx="7461600" cy="20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140"/>
              <a:buFont typeface="Arial"/>
              <a:buNone/>
            </a:pPr>
            <a:r>
              <a:rPr lang="en-US" sz="1140">
                <a:solidFill>
                  <a:srgbClr val="CBD5E1"/>
                </a:solidFill>
                <a:latin typeface="Arial"/>
                <a:ea typeface="Arial"/>
                <a:cs typeface="Arial"/>
                <a:sym typeface="Arial"/>
              </a:rPr>
              <a:t>20-25 interviews, 2 community discussions (possible), stakeholder mapping, external lite</a:t>
            </a:r>
            <a:r>
              <a:rPr lang="en-US" sz="1140">
                <a:solidFill>
                  <a:srgbClr val="CBD5E1"/>
                </a:solidFill>
              </a:rPr>
              <a:t>rature review</a:t>
            </a:r>
            <a:endParaRPr sz="1140">
              <a:solidFill>
                <a:schemeClr val="dk1"/>
              </a:solidFill>
              <a:latin typeface="Calibri"/>
              <a:ea typeface="Calibri"/>
              <a:cs typeface="Calibri"/>
              <a:sym typeface="Calibri"/>
            </a:endParaRPr>
          </a:p>
        </p:txBody>
      </p:sp>
      <p:sp>
        <p:nvSpPr>
          <p:cNvPr id="83" name="Google Shape;83;p10"/>
          <p:cNvSpPr/>
          <p:nvPr/>
        </p:nvSpPr>
        <p:spPr>
          <a:xfrm>
            <a:off x="500793" y="2043561"/>
            <a:ext cx="7461600" cy="20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BDF8"/>
              </a:buClr>
              <a:buSzPts val="1140"/>
              <a:buFont typeface="Arial"/>
              <a:buNone/>
            </a:pPr>
            <a:r>
              <a:rPr b="1" lang="en-US" sz="1140">
                <a:solidFill>
                  <a:srgbClr val="38BDF8"/>
                </a:solidFill>
                <a:latin typeface="Arial"/>
                <a:ea typeface="Arial"/>
                <a:cs typeface="Arial"/>
                <a:sym typeface="Arial"/>
              </a:rPr>
              <a:t>Deliverables:</a:t>
            </a:r>
            <a:endParaRPr sz="1140">
              <a:solidFill>
                <a:schemeClr val="dk1"/>
              </a:solidFill>
              <a:latin typeface="Calibri"/>
              <a:ea typeface="Calibri"/>
              <a:cs typeface="Calibri"/>
              <a:sym typeface="Calibri"/>
            </a:endParaRPr>
          </a:p>
        </p:txBody>
      </p:sp>
      <p:sp>
        <p:nvSpPr>
          <p:cNvPr id="84" name="Google Shape;84;p10"/>
          <p:cNvSpPr/>
          <p:nvPr/>
        </p:nvSpPr>
        <p:spPr>
          <a:xfrm>
            <a:off x="500793" y="2322465"/>
            <a:ext cx="7461600" cy="20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140"/>
              <a:buFont typeface="Arial"/>
              <a:buNone/>
            </a:pPr>
            <a:r>
              <a:rPr lang="en-US" sz="1140">
                <a:solidFill>
                  <a:srgbClr val="CBD5E1"/>
                </a:solidFill>
                <a:latin typeface="Arial"/>
                <a:ea typeface="Arial"/>
                <a:cs typeface="Arial"/>
                <a:sym typeface="Arial"/>
              </a:rPr>
              <a:t>Stakeholder Analysis Report</a:t>
            </a:r>
            <a:endParaRPr sz="1140">
              <a:solidFill>
                <a:schemeClr val="dk1"/>
              </a:solidFill>
              <a:latin typeface="Calibri"/>
              <a:ea typeface="Calibri"/>
              <a:cs typeface="Calibri"/>
              <a:sym typeface="Calibri"/>
            </a:endParaRPr>
          </a:p>
        </p:txBody>
      </p:sp>
      <p:sp>
        <p:nvSpPr>
          <p:cNvPr id="85" name="Google Shape;85;p10"/>
          <p:cNvSpPr/>
          <p:nvPr/>
        </p:nvSpPr>
        <p:spPr>
          <a:xfrm>
            <a:off x="500793" y="3138004"/>
            <a:ext cx="7461600" cy="3201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2100"/>
              <a:buFont typeface="Arial"/>
              <a:buNone/>
            </a:pPr>
            <a:r>
              <a:rPr b="1" lang="en-US" sz="2100">
                <a:solidFill>
                  <a:srgbClr val="38BDF8"/>
                </a:solidFill>
                <a:latin typeface="Arial"/>
                <a:ea typeface="Arial"/>
                <a:cs typeface="Arial"/>
                <a:sym typeface="Arial"/>
                <a:extLst>
                  <a:ext uri="http://customooxmlschemas.google.com/">
                    <go:slidesCustomData xmlns:go="http://customooxmlschemas.google.com/" textRoundtripDataId="0"/>
                  </a:ext>
                </a:extLst>
              </a:rPr>
              <a:t>Phase 1B: Pre-Retro Data</a:t>
            </a:r>
            <a:endParaRPr sz="2100">
              <a:solidFill>
                <a:schemeClr val="dk1"/>
              </a:solidFill>
              <a:latin typeface="Calibri"/>
              <a:ea typeface="Calibri"/>
              <a:cs typeface="Calibri"/>
              <a:sym typeface="Calibri"/>
            </a:endParaRPr>
          </a:p>
        </p:txBody>
      </p:sp>
      <p:sp>
        <p:nvSpPr>
          <p:cNvPr id="86" name="Google Shape;86;p10"/>
          <p:cNvSpPr/>
          <p:nvPr/>
        </p:nvSpPr>
        <p:spPr>
          <a:xfrm>
            <a:off x="500793" y="3610384"/>
            <a:ext cx="7461600" cy="20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BDF8"/>
              </a:buClr>
              <a:buSzPts val="1140"/>
              <a:buFont typeface="Arial"/>
              <a:buNone/>
            </a:pPr>
            <a:r>
              <a:rPr b="1" lang="en-US" sz="1140">
                <a:solidFill>
                  <a:srgbClr val="38BDF8"/>
                </a:solidFill>
                <a:latin typeface="Arial"/>
                <a:ea typeface="Arial"/>
                <a:cs typeface="Arial"/>
                <a:sym typeface="Arial"/>
              </a:rPr>
              <a:t>Data Collection:</a:t>
            </a:r>
            <a:endParaRPr sz="1140">
              <a:solidFill>
                <a:schemeClr val="dk1"/>
              </a:solidFill>
              <a:latin typeface="Calibri"/>
              <a:ea typeface="Calibri"/>
              <a:cs typeface="Calibri"/>
              <a:sym typeface="Calibri"/>
            </a:endParaRPr>
          </a:p>
        </p:txBody>
      </p:sp>
      <p:sp>
        <p:nvSpPr>
          <p:cNvPr id="87" name="Google Shape;87;p10"/>
          <p:cNvSpPr/>
          <p:nvPr/>
        </p:nvSpPr>
        <p:spPr>
          <a:xfrm>
            <a:off x="500793" y="3889288"/>
            <a:ext cx="7461600" cy="20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140"/>
              <a:buFont typeface="Arial"/>
              <a:buNone/>
            </a:pPr>
            <a:r>
              <a:rPr lang="en-US" sz="1140">
                <a:solidFill>
                  <a:srgbClr val="CBD5E1"/>
                </a:solidFill>
                <a:latin typeface="Arial"/>
                <a:ea typeface="Arial"/>
                <a:cs typeface="Arial"/>
                <a:sym typeface="Arial"/>
              </a:rPr>
              <a:t>voting data, governance velocity, financials</a:t>
            </a:r>
            <a:endParaRPr sz="1140">
              <a:solidFill>
                <a:schemeClr val="dk1"/>
              </a:solidFill>
              <a:latin typeface="Calibri"/>
              <a:ea typeface="Calibri"/>
              <a:cs typeface="Calibri"/>
              <a:sym typeface="Calibri"/>
            </a:endParaRPr>
          </a:p>
        </p:txBody>
      </p:sp>
      <p:sp>
        <p:nvSpPr>
          <p:cNvPr id="88" name="Google Shape;88;p10"/>
          <p:cNvSpPr/>
          <p:nvPr/>
        </p:nvSpPr>
        <p:spPr>
          <a:xfrm>
            <a:off x="500793" y="4244392"/>
            <a:ext cx="7461600" cy="20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BDF8"/>
              </a:buClr>
              <a:buSzPts val="1140"/>
              <a:buFont typeface="Arial"/>
              <a:buNone/>
            </a:pPr>
            <a:r>
              <a:rPr b="1" lang="en-US" sz="1140">
                <a:solidFill>
                  <a:srgbClr val="38BDF8"/>
                </a:solidFill>
                <a:latin typeface="Arial"/>
                <a:ea typeface="Arial"/>
                <a:cs typeface="Arial"/>
                <a:sym typeface="Arial"/>
              </a:rPr>
              <a:t>Deliverables:</a:t>
            </a:r>
            <a:endParaRPr sz="1140">
              <a:solidFill>
                <a:schemeClr val="dk1"/>
              </a:solidFill>
              <a:latin typeface="Calibri"/>
              <a:ea typeface="Calibri"/>
              <a:cs typeface="Calibri"/>
              <a:sym typeface="Calibri"/>
            </a:endParaRPr>
          </a:p>
        </p:txBody>
      </p:sp>
      <p:sp>
        <p:nvSpPr>
          <p:cNvPr id="89" name="Google Shape;89;p10"/>
          <p:cNvSpPr/>
          <p:nvPr/>
        </p:nvSpPr>
        <p:spPr>
          <a:xfrm>
            <a:off x="500793" y="4523296"/>
            <a:ext cx="7461600" cy="20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140"/>
              <a:buFont typeface="Arial"/>
              <a:buNone/>
            </a:pPr>
            <a:r>
              <a:rPr lang="en-US" sz="1140">
                <a:solidFill>
                  <a:srgbClr val="CBD5E1"/>
                </a:solidFill>
                <a:latin typeface="Arial"/>
                <a:ea typeface="Arial"/>
                <a:cs typeface="Arial"/>
                <a:sym typeface="Arial"/>
              </a:rPr>
              <a:t>Data Repository prepped for retro assessment </a:t>
            </a:r>
            <a:endParaRPr sz="1140">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94" name="Shape 94"/>
        <p:cNvGrpSpPr/>
        <p:nvPr/>
      </p:nvGrpSpPr>
      <p:grpSpPr>
        <a:xfrm>
          <a:off x="0" y="0"/>
          <a:ext cx="0" cy="0"/>
          <a:chOff x="0" y="0"/>
          <a:chExt cx="0" cy="0"/>
        </a:xfrm>
      </p:grpSpPr>
      <p:sp>
        <p:nvSpPr>
          <p:cNvPr id="95" name="Google Shape;95;g3c69b7e0ac2_0_3"/>
          <p:cNvSpPr/>
          <p:nvPr/>
        </p:nvSpPr>
        <p:spPr>
          <a:xfrm>
            <a:off x="609600" y="872430"/>
            <a:ext cx="8083200" cy="41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1100"/>
              <a:buFont typeface="Arial"/>
              <a:buNone/>
            </a:pPr>
            <a:r>
              <a:rPr b="1" lang="en-US" sz="2700">
                <a:solidFill>
                  <a:srgbClr val="38BDF8"/>
                </a:solidFill>
              </a:rPr>
              <a:t>Phase 1B: Pre-Retro Data</a:t>
            </a:r>
            <a:endParaRPr b="1" sz="2700">
              <a:solidFill>
                <a:srgbClr val="38BDF8"/>
              </a:solidFill>
            </a:endParaRPr>
          </a:p>
        </p:txBody>
      </p:sp>
      <p:sp>
        <p:nvSpPr>
          <p:cNvPr id="96" name="Google Shape;96;g3c69b7e0ac2_0_3"/>
          <p:cNvSpPr/>
          <p:nvPr/>
        </p:nvSpPr>
        <p:spPr>
          <a:xfrm>
            <a:off x="609600" y="1512391"/>
            <a:ext cx="7924800" cy="14781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97" name="Google Shape;97;g3c69b7e0ac2_0_3"/>
          <p:cNvSpPr/>
          <p:nvPr/>
        </p:nvSpPr>
        <p:spPr>
          <a:xfrm>
            <a:off x="609600" y="3219004"/>
            <a:ext cx="7924800" cy="14781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98" name="Google Shape;98;g3c69b7e0ac2_0_3"/>
          <p:cNvSpPr/>
          <p:nvPr/>
        </p:nvSpPr>
        <p:spPr>
          <a:xfrm>
            <a:off x="838200" y="1740991"/>
            <a:ext cx="7617000" cy="228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1500"/>
              <a:buFont typeface="Arial"/>
              <a:buNone/>
            </a:pPr>
            <a:r>
              <a:rPr b="1" lang="en-US" sz="1500">
                <a:solidFill>
                  <a:srgbClr val="38BDF8"/>
                </a:solidFill>
              </a:rPr>
              <a:t>Objective</a:t>
            </a:r>
            <a:endParaRPr sz="1500">
              <a:solidFill>
                <a:schemeClr val="dk1"/>
              </a:solidFill>
              <a:latin typeface="Calibri"/>
              <a:ea typeface="Calibri"/>
              <a:cs typeface="Calibri"/>
              <a:sym typeface="Calibri"/>
            </a:endParaRPr>
          </a:p>
        </p:txBody>
      </p:sp>
      <p:sp>
        <p:nvSpPr>
          <p:cNvPr id="99" name="Google Shape;99;g3c69b7e0ac2_0_3"/>
          <p:cNvSpPr/>
          <p:nvPr/>
        </p:nvSpPr>
        <p:spPr>
          <a:xfrm>
            <a:off x="838200" y="2121991"/>
            <a:ext cx="7467600" cy="63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chemeClr val="dk1"/>
              </a:buClr>
              <a:buSzPts val="1100"/>
              <a:buFont typeface="Arial"/>
              <a:buNone/>
            </a:pPr>
            <a:r>
              <a:rPr lang="en-US" sz="1200">
                <a:solidFill>
                  <a:srgbClr val="CBD5E1"/>
                </a:solidFill>
              </a:rPr>
              <a:t>To gather all of the relevant data that needs to be analyzed to understand if the desired outcomes defined in Phase 1 were or were not accomplished as part of conducting the full retro in Phase 3</a:t>
            </a:r>
            <a:endParaRPr sz="1200">
              <a:solidFill>
                <a:srgbClr val="CBD5E1"/>
              </a:solidFill>
            </a:endParaRPr>
          </a:p>
        </p:txBody>
      </p:sp>
      <p:sp>
        <p:nvSpPr>
          <p:cNvPr id="100" name="Google Shape;100;g3c69b7e0ac2_0_3"/>
          <p:cNvSpPr/>
          <p:nvPr/>
        </p:nvSpPr>
        <p:spPr>
          <a:xfrm>
            <a:off x="838200" y="3447604"/>
            <a:ext cx="7617000" cy="228600"/>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38BDF8"/>
              </a:buClr>
              <a:buSzPts val="1500"/>
              <a:buFont typeface="Arial"/>
              <a:buNone/>
            </a:pPr>
            <a:r>
              <a:rPr b="1" lang="en-US" sz="1500">
                <a:solidFill>
                  <a:srgbClr val="38BDF8"/>
                </a:solidFill>
              </a:rPr>
              <a:t>Output</a:t>
            </a:r>
            <a:endParaRPr sz="1500">
              <a:solidFill>
                <a:schemeClr val="dk1"/>
              </a:solidFill>
              <a:latin typeface="Calibri"/>
              <a:ea typeface="Calibri"/>
              <a:cs typeface="Calibri"/>
              <a:sym typeface="Calibri"/>
            </a:endParaRPr>
          </a:p>
        </p:txBody>
      </p:sp>
      <p:sp>
        <p:nvSpPr>
          <p:cNvPr id="101" name="Google Shape;101;g3c69b7e0ac2_0_3"/>
          <p:cNvSpPr/>
          <p:nvPr/>
        </p:nvSpPr>
        <p:spPr>
          <a:xfrm>
            <a:off x="838200" y="3828604"/>
            <a:ext cx="7467600" cy="639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None/>
            </a:pPr>
            <a:r>
              <a:rPr lang="en-US" sz="1200">
                <a:solidFill>
                  <a:srgbClr val="CBD5E1"/>
                </a:solidFill>
              </a:rPr>
              <a:t>A </a:t>
            </a:r>
            <a:r>
              <a:rPr lang="en-US" sz="1200">
                <a:solidFill>
                  <a:srgbClr val="CBD5E1"/>
                </a:solidFill>
              </a:rPr>
              <a:t>shared repository </a:t>
            </a:r>
            <a:r>
              <a:rPr lang="en-US" sz="1200">
                <a:solidFill>
                  <a:srgbClr val="CBD5E1"/>
                </a:solidFill>
              </a:rPr>
              <a:t>of relevant documents and data sources</a:t>
            </a:r>
            <a:endParaRPr sz="1200">
              <a:solidFill>
                <a:srgbClr val="CBD5E1"/>
              </a:solidFill>
            </a:endParaRPr>
          </a:p>
          <a:p>
            <a:pPr indent="0" lvl="0" marL="0" marR="0" rtl="0" algn="l">
              <a:lnSpc>
                <a:spcPct val="140000"/>
              </a:lnSpc>
              <a:spcBef>
                <a:spcPts val="0"/>
              </a:spcBef>
              <a:spcAft>
                <a:spcPts val="0"/>
              </a:spcAft>
              <a:buClr>
                <a:srgbClr val="CBD5E1"/>
              </a:buClr>
              <a:buSzPts val="1200"/>
              <a:buFont typeface="Arial"/>
              <a:buNone/>
            </a:pPr>
            <a:r>
              <a:t/>
            </a:r>
            <a:endParaRPr sz="1200">
              <a:solidFill>
                <a:srgbClr val="CBD5E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F172A"/>
        </a:solidFill>
      </p:bgPr>
    </p:bg>
    <p:spTree>
      <p:nvGrpSpPr>
        <p:cNvPr id="106" name="Shape 106"/>
        <p:cNvGrpSpPr/>
        <p:nvPr/>
      </p:nvGrpSpPr>
      <p:grpSpPr>
        <a:xfrm>
          <a:off x="0" y="0"/>
          <a:ext cx="0" cy="0"/>
          <a:chOff x="0" y="0"/>
          <a:chExt cx="0" cy="0"/>
        </a:xfrm>
      </p:grpSpPr>
      <p:sp>
        <p:nvSpPr>
          <p:cNvPr id="107" name="Google Shape;107;g3c69b7e0ac2_0_35"/>
          <p:cNvSpPr/>
          <p:nvPr/>
        </p:nvSpPr>
        <p:spPr>
          <a:xfrm>
            <a:off x="609600" y="872430"/>
            <a:ext cx="8083200" cy="411300"/>
          </a:xfrm>
          <a:prstGeom prst="rect">
            <a:avLst/>
          </a:prstGeom>
          <a:noFill/>
          <a:ln>
            <a:noFill/>
          </a:ln>
        </p:spPr>
        <p:txBody>
          <a:bodyPr anchorCtr="0" anchor="t" bIns="0" lIns="0" spcFirstLastPara="1" rIns="0" wrap="square" tIns="0">
            <a:noAutofit/>
          </a:bodyPr>
          <a:lstStyle/>
          <a:p>
            <a:pPr indent="0" lvl="0" marL="0" rtl="0" algn="l">
              <a:lnSpc>
                <a:spcPct val="120000"/>
              </a:lnSpc>
              <a:spcBef>
                <a:spcPts val="0"/>
              </a:spcBef>
              <a:spcAft>
                <a:spcPts val="0"/>
              </a:spcAft>
              <a:buClr>
                <a:schemeClr val="dk1"/>
              </a:buClr>
              <a:buSzPts val="1100"/>
              <a:buFont typeface="Arial"/>
              <a:buNone/>
            </a:pPr>
            <a:r>
              <a:rPr b="1" lang="en-US" sz="2700">
                <a:solidFill>
                  <a:srgbClr val="38BDF8"/>
                </a:solidFill>
              </a:rPr>
              <a:t>Inventory of Public Data Sources (so far)</a:t>
            </a:r>
            <a:endParaRPr b="1" sz="2700">
              <a:solidFill>
                <a:srgbClr val="38BDF8"/>
              </a:solidFill>
            </a:endParaRPr>
          </a:p>
        </p:txBody>
      </p:sp>
      <p:sp>
        <p:nvSpPr>
          <p:cNvPr id="108" name="Google Shape;108;g3c69b7e0ac2_0_35"/>
          <p:cNvSpPr/>
          <p:nvPr/>
        </p:nvSpPr>
        <p:spPr>
          <a:xfrm>
            <a:off x="609600" y="1512400"/>
            <a:ext cx="3902700" cy="29274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09" name="Google Shape;109;g3c69b7e0ac2_0_35"/>
          <p:cNvSpPr/>
          <p:nvPr/>
        </p:nvSpPr>
        <p:spPr>
          <a:xfrm>
            <a:off x="4698575" y="1512400"/>
            <a:ext cx="3902700" cy="2927400"/>
          </a:xfrm>
          <a:prstGeom prst="rect">
            <a:avLst/>
          </a:prstGeom>
          <a:solidFill>
            <a:srgbClr val="1E293B"/>
          </a:solidFill>
          <a:ln>
            <a:noFill/>
          </a:ln>
        </p:spPr>
        <p:txBody>
          <a:bodyPr anchorCtr="0" anchor="ctr" bIns="0" lIns="0" spcFirstLastPara="1" rIns="0" wrap="square" tIns="0">
            <a:noAutofit/>
          </a:bodyPr>
          <a:lstStyle/>
          <a:p>
            <a:pPr indent="0" lvl="0" marL="0" marR="0" rtl="0" algn="l">
              <a:spcBef>
                <a:spcPts val="0"/>
              </a:spcBef>
              <a:spcAft>
                <a:spcPts val="0"/>
              </a:spcAft>
              <a:buClr>
                <a:schemeClr val="dk1"/>
              </a:buClr>
              <a:buSzPts val="1800"/>
              <a:buFont typeface="Calibri"/>
              <a:buNone/>
            </a:pPr>
            <a:r>
              <a:t/>
            </a:r>
            <a:endParaRPr sz="1800">
              <a:solidFill>
                <a:schemeClr val="dk1"/>
              </a:solidFill>
              <a:latin typeface="Calibri"/>
              <a:ea typeface="Calibri"/>
              <a:cs typeface="Calibri"/>
              <a:sym typeface="Calibri"/>
            </a:endParaRPr>
          </a:p>
        </p:txBody>
      </p:sp>
      <p:sp>
        <p:nvSpPr>
          <p:cNvPr id="110" name="Google Shape;110;g3c69b7e0ac2_0_35"/>
          <p:cNvSpPr/>
          <p:nvPr/>
        </p:nvSpPr>
        <p:spPr>
          <a:xfrm>
            <a:off x="2022750" y="1653250"/>
            <a:ext cx="1076400" cy="20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BDF8"/>
              </a:buClr>
              <a:buSzPts val="1140"/>
              <a:buFont typeface="Arial"/>
              <a:buNone/>
            </a:pPr>
            <a:r>
              <a:rPr b="1" lang="en-US" sz="1840">
                <a:solidFill>
                  <a:srgbClr val="38BDF8"/>
                </a:solidFill>
              </a:rPr>
              <a:t>Treasury</a:t>
            </a:r>
            <a:endParaRPr sz="1840">
              <a:solidFill>
                <a:schemeClr val="dk1"/>
              </a:solidFill>
              <a:latin typeface="Calibri"/>
              <a:ea typeface="Calibri"/>
              <a:cs typeface="Calibri"/>
              <a:sym typeface="Calibri"/>
            </a:endParaRPr>
          </a:p>
        </p:txBody>
      </p:sp>
      <p:sp>
        <p:nvSpPr>
          <p:cNvPr id="111" name="Google Shape;111;g3c69b7e0ac2_0_35"/>
          <p:cNvSpPr/>
          <p:nvPr/>
        </p:nvSpPr>
        <p:spPr>
          <a:xfrm>
            <a:off x="5941025" y="1653250"/>
            <a:ext cx="1417800" cy="2028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38BDF8"/>
              </a:buClr>
              <a:buSzPts val="1140"/>
              <a:buFont typeface="Arial"/>
              <a:buNone/>
            </a:pPr>
            <a:r>
              <a:rPr b="1" lang="en-US" sz="1800">
                <a:solidFill>
                  <a:srgbClr val="38BDF8"/>
                </a:solidFill>
              </a:rPr>
              <a:t>Governance</a:t>
            </a:r>
            <a:endParaRPr sz="1800">
              <a:solidFill>
                <a:schemeClr val="dk1"/>
              </a:solidFill>
              <a:latin typeface="Calibri"/>
              <a:ea typeface="Calibri"/>
              <a:cs typeface="Calibri"/>
              <a:sym typeface="Calibri"/>
            </a:endParaRPr>
          </a:p>
        </p:txBody>
      </p:sp>
      <p:sp>
        <p:nvSpPr>
          <p:cNvPr id="112" name="Google Shape;112;g3c69b7e0ac2_0_35"/>
          <p:cNvSpPr/>
          <p:nvPr/>
        </p:nvSpPr>
        <p:spPr>
          <a:xfrm>
            <a:off x="811950" y="1996800"/>
            <a:ext cx="3498000" cy="24429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chemeClr val="dk1"/>
              </a:buClr>
              <a:buSzPts val="1100"/>
              <a:buFont typeface="Arial"/>
              <a:buNone/>
            </a:pPr>
            <a:r>
              <a:t/>
            </a:r>
            <a:endParaRPr sz="1200">
              <a:solidFill>
                <a:srgbClr val="CBD5E1"/>
              </a:solidFill>
            </a:endParaRPr>
          </a:p>
          <a:p>
            <a:pPr indent="-304800" lvl="0" marL="457200" rtl="0" algn="l">
              <a:lnSpc>
                <a:spcPct val="140000"/>
              </a:lnSpc>
              <a:spcBef>
                <a:spcPts val="0"/>
              </a:spcBef>
              <a:spcAft>
                <a:spcPts val="0"/>
              </a:spcAft>
              <a:buClr>
                <a:srgbClr val="CBD5E1"/>
              </a:buClr>
              <a:buSzPts val="1200"/>
              <a:buChar char="●"/>
            </a:pPr>
            <a:r>
              <a:rPr lang="en-US" sz="1200">
                <a:solidFill>
                  <a:srgbClr val="CBD5E1"/>
                </a:solidFill>
              </a:rPr>
              <a:t>ENS Wallets (WG treasury monitoring)</a:t>
            </a:r>
            <a:endParaRPr sz="1200">
              <a:solidFill>
                <a:srgbClr val="CBD5E1"/>
              </a:solidFill>
            </a:endParaRPr>
          </a:p>
          <a:p>
            <a:pPr indent="-304800" lvl="0" marL="457200" rtl="0" algn="l">
              <a:lnSpc>
                <a:spcPct val="140000"/>
              </a:lnSpc>
              <a:spcBef>
                <a:spcPts val="0"/>
              </a:spcBef>
              <a:spcAft>
                <a:spcPts val="0"/>
              </a:spcAft>
              <a:buClr>
                <a:srgbClr val="CBD5E1"/>
              </a:buClr>
              <a:buSzPts val="1200"/>
              <a:buChar char="●"/>
            </a:pPr>
            <a:r>
              <a:rPr lang="en-US" sz="1200">
                <a:solidFill>
                  <a:srgbClr val="CBD5E1"/>
                </a:solidFill>
              </a:rPr>
              <a:t>SafeNotes (transaction annotations)</a:t>
            </a:r>
            <a:endParaRPr sz="1200">
              <a:solidFill>
                <a:srgbClr val="CBD5E1"/>
              </a:solidFill>
            </a:endParaRPr>
          </a:p>
          <a:p>
            <a:pPr indent="-304800" lvl="0" marL="457200" rtl="0" algn="l">
              <a:lnSpc>
                <a:spcPct val="140000"/>
              </a:lnSpc>
              <a:spcBef>
                <a:spcPts val="0"/>
              </a:spcBef>
              <a:spcAft>
                <a:spcPts val="0"/>
              </a:spcAft>
              <a:buClr>
                <a:srgbClr val="CBD5E1"/>
              </a:buClr>
              <a:buSzPts val="1200"/>
              <a:buChar char="●"/>
            </a:pPr>
            <a:r>
              <a:rPr lang="en-US" sz="1200">
                <a:solidFill>
                  <a:srgbClr val="CBD5E1"/>
                </a:solidFill>
              </a:rPr>
              <a:t>WG Spending Reports</a:t>
            </a:r>
            <a:endParaRPr sz="1200">
              <a:solidFill>
                <a:srgbClr val="CBD5E1"/>
              </a:solidFill>
            </a:endParaRPr>
          </a:p>
          <a:p>
            <a:pPr indent="-304800" lvl="0" marL="457200" rtl="0" algn="l">
              <a:lnSpc>
                <a:spcPct val="140000"/>
              </a:lnSpc>
              <a:spcBef>
                <a:spcPts val="0"/>
              </a:spcBef>
              <a:spcAft>
                <a:spcPts val="0"/>
              </a:spcAft>
              <a:buClr>
                <a:srgbClr val="CBD5E1"/>
              </a:buClr>
              <a:buSzPts val="1200"/>
              <a:buChar char="●"/>
            </a:pPr>
            <a:r>
              <a:rPr lang="en-US" sz="1200">
                <a:solidFill>
                  <a:srgbClr val="CBD5E1"/>
                </a:solidFill>
              </a:rPr>
              <a:t>Karpatkey Reports (treasury management)</a:t>
            </a:r>
            <a:endParaRPr sz="1200">
              <a:solidFill>
                <a:srgbClr val="CBD5E1"/>
              </a:solidFill>
            </a:endParaRPr>
          </a:p>
          <a:p>
            <a:pPr indent="-304800" lvl="0" marL="457200" rtl="0" algn="l">
              <a:lnSpc>
                <a:spcPct val="140000"/>
              </a:lnSpc>
              <a:spcBef>
                <a:spcPts val="0"/>
              </a:spcBef>
              <a:spcAft>
                <a:spcPts val="0"/>
              </a:spcAft>
              <a:buClr>
                <a:srgbClr val="CBD5E1"/>
              </a:buClr>
              <a:buSzPts val="1200"/>
              <a:buChar char="●"/>
            </a:pPr>
            <a:r>
              <a:rPr lang="en-US" sz="1200">
                <a:solidFill>
                  <a:srgbClr val="CBD5E1"/>
                </a:solidFill>
              </a:rPr>
              <a:t>ENS Small Grants</a:t>
            </a:r>
            <a:endParaRPr sz="1200">
              <a:solidFill>
                <a:srgbClr val="CBD5E1"/>
              </a:solidFill>
            </a:endParaRPr>
          </a:p>
        </p:txBody>
      </p:sp>
      <p:sp>
        <p:nvSpPr>
          <p:cNvPr id="113" name="Google Shape;113;g3c69b7e0ac2_0_35"/>
          <p:cNvSpPr/>
          <p:nvPr/>
        </p:nvSpPr>
        <p:spPr>
          <a:xfrm>
            <a:off x="4900925" y="1996800"/>
            <a:ext cx="3498000" cy="2442900"/>
          </a:xfrm>
          <a:prstGeom prst="rect">
            <a:avLst/>
          </a:prstGeom>
          <a:noFill/>
          <a:ln>
            <a:noFill/>
          </a:ln>
        </p:spPr>
        <p:txBody>
          <a:bodyPr anchorCtr="0" anchor="t" bIns="0" lIns="0" spcFirstLastPara="1" rIns="0" wrap="square" tIns="0">
            <a:noAutofit/>
          </a:bodyPr>
          <a:lstStyle/>
          <a:p>
            <a:pPr indent="0" lvl="0" marL="0" marR="0" rtl="0" algn="l">
              <a:lnSpc>
                <a:spcPct val="140000"/>
              </a:lnSpc>
              <a:spcBef>
                <a:spcPts val="0"/>
              </a:spcBef>
              <a:spcAft>
                <a:spcPts val="0"/>
              </a:spcAft>
              <a:buClr>
                <a:srgbClr val="CBD5E1"/>
              </a:buClr>
              <a:buSzPts val="1200"/>
              <a:buFont typeface="Arial"/>
              <a:buNone/>
            </a:pPr>
            <a:r>
              <a:t/>
            </a:r>
            <a:endParaRPr sz="1200">
              <a:solidFill>
                <a:srgbClr val="CBD5E1"/>
              </a:solidFill>
            </a:endParaRPr>
          </a:p>
          <a:p>
            <a:pPr indent="-304800" lvl="0" marL="457200" marR="0" rtl="0" algn="l">
              <a:lnSpc>
                <a:spcPct val="140000"/>
              </a:lnSpc>
              <a:spcBef>
                <a:spcPts val="0"/>
              </a:spcBef>
              <a:spcAft>
                <a:spcPts val="0"/>
              </a:spcAft>
              <a:buClr>
                <a:srgbClr val="CBD5E1"/>
              </a:buClr>
              <a:buSzPts val="1200"/>
              <a:buChar char="●"/>
            </a:pPr>
            <a:r>
              <a:rPr lang="en-US" sz="1200">
                <a:solidFill>
                  <a:srgbClr val="CBD5E1"/>
                </a:solidFill>
              </a:rPr>
              <a:t>ENS Governance Forum</a:t>
            </a:r>
            <a:endParaRPr sz="1200">
              <a:solidFill>
                <a:srgbClr val="CBD5E1"/>
              </a:solidFill>
            </a:endParaRPr>
          </a:p>
          <a:p>
            <a:pPr indent="-304800" lvl="0" marL="457200" marR="0" rtl="0" algn="l">
              <a:lnSpc>
                <a:spcPct val="140000"/>
              </a:lnSpc>
              <a:spcBef>
                <a:spcPts val="0"/>
              </a:spcBef>
              <a:spcAft>
                <a:spcPts val="0"/>
              </a:spcAft>
              <a:buClr>
                <a:srgbClr val="CBD5E1"/>
              </a:buClr>
              <a:buSzPts val="1200"/>
              <a:buChar char="●"/>
            </a:pPr>
            <a:r>
              <a:rPr lang="en-US" sz="1200">
                <a:solidFill>
                  <a:srgbClr val="CBD5E1"/>
                </a:solidFill>
              </a:rPr>
              <a:t>Snapshot (offchain voting)</a:t>
            </a:r>
            <a:endParaRPr sz="1200">
              <a:solidFill>
                <a:srgbClr val="CBD5E1"/>
              </a:solidFill>
            </a:endParaRPr>
          </a:p>
          <a:p>
            <a:pPr indent="-304800" lvl="0" marL="457200" marR="0" rtl="0" algn="l">
              <a:lnSpc>
                <a:spcPct val="140000"/>
              </a:lnSpc>
              <a:spcBef>
                <a:spcPts val="0"/>
              </a:spcBef>
              <a:spcAft>
                <a:spcPts val="0"/>
              </a:spcAft>
              <a:buClr>
                <a:srgbClr val="CBD5E1"/>
              </a:buClr>
              <a:buSzPts val="1200"/>
              <a:buChar char="●"/>
            </a:pPr>
            <a:r>
              <a:rPr lang="en-US" sz="1200">
                <a:solidFill>
                  <a:srgbClr val="CBD5E1"/>
                </a:solidFill>
              </a:rPr>
              <a:t>Tally (onchain governance)</a:t>
            </a:r>
            <a:endParaRPr sz="1200">
              <a:solidFill>
                <a:srgbClr val="CBD5E1"/>
              </a:solidFill>
            </a:endParaRPr>
          </a:p>
          <a:p>
            <a:pPr indent="-304800" lvl="0" marL="457200" marR="0" rtl="0" algn="l">
              <a:lnSpc>
                <a:spcPct val="140000"/>
              </a:lnSpc>
              <a:spcBef>
                <a:spcPts val="0"/>
              </a:spcBef>
              <a:spcAft>
                <a:spcPts val="0"/>
              </a:spcAft>
              <a:buClr>
                <a:srgbClr val="CBD5E1"/>
              </a:buClr>
              <a:buSzPts val="1200"/>
              <a:buChar char="●"/>
            </a:pPr>
            <a:r>
              <a:rPr lang="en-US" sz="1200">
                <a:solidFill>
                  <a:srgbClr val="CBD5E1"/>
                </a:solidFill>
              </a:rPr>
              <a:t>Agora (proposal tracking)</a:t>
            </a:r>
            <a:endParaRPr sz="1200">
              <a:solidFill>
                <a:srgbClr val="CBD5E1"/>
              </a:solidFill>
            </a:endParaRPr>
          </a:p>
          <a:p>
            <a:pPr indent="-304800" lvl="0" marL="457200" marR="0" rtl="0" algn="l">
              <a:lnSpc>
                <a:spcPct val="140000"/>
              </a:lnSpc>
              <a:spcBef>
                <a:spcPts val="0"/>
              </a:spcBef>
              <a:spcAft>
                <a:spcPts val="0"/>
              </a:spcAft>
              <a:buClr>
                <a:srgbClr val="CBD5E1"/>
              </a:buClr>
              <a:buSzPts val="1200"/>
              <a:buChar char="●"/>
            </a:pPr>
            <a:r>
              <a:rPr lang="en-US" sz="1200">
                <a:solidFill>
                  <a:srgbClr val="CBD5E1"/>
                </a:solidFill>
              </a:rPr>
              <a:t>Dune (ENS DAO Governance </a:t>
            </a:r>
            <a:r>
              <a:rPr lang="en-US" sz="1200">
                <a:solidFill>
                  <a:srgbClr val="CBD5E1"/>
                </a:solidFill>
              </a:rPr>
              <a:t>dashboard</a:t>
            </a:r>
            <a:r>
              <a:rPr lang="en-US" sz="1200">
                <a:solidFill>
                  <a:srgbClr val="CBD5E1"/>
                </a:solidFill>
              </a:rPr>
              <a:t>)</a:t>
            </a:r>
            <a:endParaRPr sz="1200">
              <a:solidFill>
                <a:srgbClr val="CBD5E1"/>
              </a:solidFill>
            </a:endParaRPr>
          </a:p>
          <a:p>
            <a:pPr indent="-304800" lvl="0" marL="457200" marR="0" rtl="0" algn="l">
              <a:lnSpc>
                <a:spcPct val="140000"/>
              </a:lnSpc>
              <a:spcBef>
                <a:spcPts val="0"/>
              </a:spcBef>
              <a:spcAft>
                <a:spcPts val="0"/>
              </a:spcAft>
              <a:buClr>
                <a:srgbClr val="CBD5E1"/>
              </a:buClr>
              <a:buSzPts val="1200"/>
              <a:buChar char="●"/>
            </a:pPr>
            <a:r>
              <a:rPr lang="en-US" sz="1200">
                <a:solidFill>
                  <a:srgbClr val="CBD5E1"/>
                </a:solidFill>
              </a:rPr>
              <a:t>votingpower.xyz (delegate overview)</a:t>
            </a:r>
            <a:endParaRPr sz="1200">
              <a:solidFill>
                <a:srgbClr val="CBD5E1"/>
              </a:solidFill>
            </a:endParaRPr>
          </a:p>
          <a:p>
            <a:pPr indent="-304800" lvl="0" marL="457200" marR="0" rtl="0" algn="l">
              <a:lnSpc>
                <a:spcPct val="140000"/>
              </a:lnSpc>
              <a:spcBef>
                <a:spcPts val="0"/>
              </a:spcBef>
              <a:spcAft>
                <a:spcPts val="0"/>
              </a:spcAft>
              <a:buClr>
                <a:srgbClr val="CBD5E1"/>
              </a:buClr>
              <a:buSzPts val="1200"/>
              <a:buChar char="●"/>
            </a:pPr>
            <a:r>
              <a:rPr lang="en-US" sz="1200">
                <a:solidFill>
                  <a:srgbClr val="CBD5E1"/>
                </a:solidFill>
              </a:rPr>
              <a:t>Github (</a:t>
            </a:r>
            <a:r>
              <a:rPr lang="en-US" sz="1200">
                <a:solidFill>
                  <a:srgbClr val="CBD5E1"/>
                </a:solidFill>
              </a:rPr>
              <a:t>ensdomains governance docs)</a:t>
            </a:r>
            <a:endParaRPr sz="1200">
              <a:solidFill>
                <a:srgbClr val="CBD5E1"/>
              </a:solidFill>
            </a:endParaRPr>
          </a:p>
        </p:txBody>
      </p:sp>
      <p:sp>
        <p:nvSpPr>
          <p:cNvPr id="114" name="Google Shape;114;g3c69b7e0ac2_0_35"/>
          <p:cNvSpPr/>
          <p:nvPr/>
        </p:nvSpPr>
        <p:spPr>
          <a:xfrm>
            <a:off x="609600" y="4580450"/>
            <a:ext cx="2044500" cy="279600"/>
          </a:xfrm>
          <a:prstGeom prst="rect">
            <a:avLst/>
          </a:prstGeom>
          <a:noFill/>
          <a:ln>
            <a:noFill/>
          </a:ln>
        </p:spPr>
        <p:txBody>
          <a:bodyPr anchorCtr="0" anchor="t" bIns="0" lIns="0" spcFirstLastPara="1" rIns="0" wrap="square" tIns="0">
            <a:noAutofit/>
          </a:bodyPr>
          <a:lstStyle/>
          <a:p>
            <a:pPr indent="0" lvl="0" marL="0" rtl="0" algn="l">
              <a:lnSpc>
                <a:spcPct val="140000"/>
              </a:lnSpc>
              <a:spcBef>
                <a:spcPts val="0"/>
              </a:spcBef>
              <a:spcAft>
                <a:spcPts val="0"/>
              </a:spcAft>
              <a:buClr>
                <a:schemeClr val="dk1"/>
              </a:buClr>
              <a:buSzPts val="1100"/>
              <a:buFont typeface="Arial"/>
              <a:buNone/>
            </a:pPr>
            <a:r>
              <a:rPr lang="en-US" sz="1200" u="sng">
                <a:solidFill>
                  <a:schemeClr val="hlink"/>
                </a:solidFill>
                <a:hlinkClick r:id="rId3"/>
              </a:rPr>
              <a:t>Retrospective Data Sources</a:t>
            </a:r>
            <a:endParaRPr sz="1200">
              <a:solidFill>
                <a:srgbClr val="CBD5E1"/>
              </a:solidFill>
            </a:endParaRPr>
          </a:p>
          <a:p>
            <a:pPr indent="0" lvl="0" marL="0" rtl="0" algn="l">
              <a:lnSpc>
                <a:spcPct val="140000"/>
              </a:lnSpc>
              <a:spcBef>
                <a:spcPts val="0"/>
              </a:spcBef>
              <a:spcAft>
                <a:spcPts val="0"/>
              </a:spcAft>
              <a:buClr>
                <a:schemeClr val="dk1"/>
              </a:buClr>
              <a:buSzPts val="1100"/>
              <a:buFont typeface="Arial"/>
              <a:buNone/>
            </a:pPr>
            <a:r>
              <a:t/>
            </a:r>
            <a:endParaRPr sz="1200">
              <a:solidFill>
                <a:srgbClr val="CBD5E1"/>
              </a:solidFill>
            </a:endParaRPr>
          </a:p>
          <a:p>
            <a:pPr indent="0" lvl="0" marL="0" marR="0" rtl="0" algn="l">
              <a:lnSpc>
                <a:spcPct val="140000"/>
              </a:lnSpc>
              <a:spcBef>
                <a:spcPts val="0"/>
              </a:spcBef>
              <a:spcAft>
                <a:spcPts val="0"/>
              </a:spcAft>
              <a:buNone/>
            </a:pPr>
            <a:r>
              <a:t/>
            </a:r>
            <a:endParaRPr sz="1200">
              <a:solidFill>
                <a:srgbClr val="CBD5E1"/>
              </a:solidFill>
            </a:endParaRPr>
          </a:p>
        </p:txBody>
      </p:sp>
      <p:sp>
        <p:nvSpPr>
          <p:cNvPr id="115" name="Google Shape;115;g3c69b7e0ac2_0_35"/>
          <p:cNvSpPr/>
          <p:nvPr/>
        </p:nvSpPr>
        <p:spPr>
          <a:xfrm>
            <a:off x="6556775" y="4580450"/>
            <a:ext cx="2044500" cy="279600"/>
          </a:xfrm>
          <a:prstGeom prst="rect">
            <a:avLst/>
          </a:prstGeom>
          <a:noFill/>
          <a:ln>
            <a:noFill/>
          </a:ln>
        </p:spPr>
        <p:txBody>
          <a:bodyPr anchorCtr="0" anchor="t" bIns="0" lIns="0" spcFirstLastPara="1" rIns="0" wrap="square" tIns="0">
            <a:noAutofit/>
          </a:bodyPr>
          <a:lstStyle/>
          <a:p>
            <a:pPr indent="0" lvl="0" marL="0" rtl="0" algn="r">
              <a:lnSpc>
                <a:spcPct val="140000"/>
              </a:lnSpc>
              <a:spcBef>
                <a:spcPts val="0"/>
              </a:spcBef>
              <a:spcAft>
                <a:spcPts val="0"/>
              </a:spcAft>
              <a:buNone/>
            </a:pPr>
            <a:r>
              <a:rPr b="1" lang="en-US" sz="1200">
                <a:solidFill>
                  <a:srgbClr val="CBD5E1"/>
                </a:solidFill>
              </a:rPr>
              <a:t>TG: @samccarthy27</a:t>
            </a:r>
            <a:endParaRPr b="1" sz="1200">
              <a:solidFill>
                <a:srgbClr val="CBD5E1"/>
              </a:solidFill>
            </a:endParaRPr>
          </a:p>
          <a:p>
            <a:pPr indent="0" lvl="0" marL="0" rtl="0" algn="l">
              <a:lnSpc>
                <a:spcPct val="140000"/>
              </a:lnSpc>
              <a:spcBef>
                <a:spcPts val="0"/>
              </a:spcBef>
              <a:spcAft>
                <a:spcPts val="0"/>
              </a:spcAft>
              <a:buNone/>
            </a:pPr>
            <a:r>
              <a:t/>
            </a:r>
            <a:endParaRPr sz="1200">
              <a:solidFill>
                <a:srgbClr val="CBD5E1"/>
              </a:solidFill>
            </a:endParaRPr>
          </a:p>
          <a:p>
            <a:pPr indent="0" lvl="0" marL="0" marR="0" rtl="0" algn="l">
              <a:lnSpc>
                <a:spcPct val="140000"/>
              </a:lnSpc>
              <a:spcBef>
                <a:spcPts val="0"/>
              </a:spcBef>
              <a:spcAft>
                <a:spcPts val="0"/>
              </a:spcAft>
              <a:buNone/>
            </a:pPr>
            <a:r>
              <a:t/>
            </a:r>
            <a:endParaRPr sz="1200">
              <a:solidFill>
                <a:srgbClr val="CBD5E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2026-02-03T18:20:13Z</dcterms:created>
  <dc:creator>Perplexity</dc:creator>
</cp:coreProperties>
</file>